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4630400" cy="82296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8EC70-7C05-40B9-8F56-B04737247E30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"/>
        <p:cNvGrpSpPr/>
        <p:nvPr/>
      </p:nvGrpSpPr>
      <p:grpSpPr/>
      <p:sp>
        <p:nvSpPr>
          <p:cNvPr id="12" name="Google Shape;12;p22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" name="Google Shape;13;p22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2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6" name="Google Shape;16;p2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" name="Google Shape;17;p2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spcBef>
                <a:spcPts val="64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23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" name="Google Shape;20;p2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"/>
        <p:cNvGrpSpPr/>
        <p:nvPr/>
      </p:nvGrpSpPr>
      <p:grpSpPr/>
      <p:sp>
        <p:nvSpPr>
          <p:cNvPr id="22" name="Google Shape;22;p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2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24" name="Google Shape;24;p24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" name="Google Shape;25;p24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4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28" name="Google Shape;28;p25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" name="Google Shape;29;p25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1" name="Google Shape;31;p25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" name="Google Shape;32;p25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"/>
        <p:cNvGrpSpPr/>
        <p:nvPr/>
      </p:nvGrpSpPr>
      <p:grpSpPr/>
      <p:sp>
        <p:nvSpPr>
          <p:cNvPr id="34" name="Google Shape;34;p2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" name="Google Shape;35;p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" name="Google Shape;38;p26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26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"/>
        <p:cNvGrpSpPr/>
        <p:nvPr/>
      </p:nvGrpSpPr>
      <p:grpSpPr/>
      <p:sp>
        <p:nvSpPr>
          <p:cNvPr id="41" name="Google Shape;41;p2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27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9pPr>
          </a:lstStyle>
          <a:p/>
        </p:txBody>
      </p:sp>
      <p:sp>
        <p:nvSpPr>
          <p:cNvPr id="43" name="Google Shape;43;p27"/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9pPr>
          </a:lstStyle>
          <a:p/>
        </p:txBody>
      </p:sp>
      <p:sp>
        <p:nvSpPr>
          <p:cNvPr id="45" name="Google Shape;45;p27"/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7" name="Google Shape;47;p27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8" name="Google Shape;48;p27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50" name="Google Shape;50;p2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" name="Google Shape;51;p28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28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3" name="Google Shape;53;p28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"/>
        <p:cNvGrpSpPr/>
        <p:nvPr/>
      </p:nvGrpSpPr>
      <p:grpSpPr/>
      <p:sp>
        <p:nvSpPr>
          <p:cNvPr id="55" name="Google Shape;55;p29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29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29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29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29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"/>
        <p:cNvGrpSpPr/>
        <p:nvPr/>
      </p:nvGrpSpPr>
      <p:grpSpPr/>
      <p:sp>
        <p:nvSpPr>
          <p:cNvPr id="62" name="Google Shape;62;p30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5" name="Google Shape;65;p30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30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30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"/>
        <p:cNvGrpSpPr/>
        <p:nvPr/>
      </p:nvGrpSpPr>
      <p:grpSpPr/>
      <p:sp>
        <p:nvSpPr>
          <p:cNvPr id="69" name="Google Shape;69;p3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31"/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71" name="Google Shape;71;p31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" name="Google Shape;72;p31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3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"/>
        <p:cNvGrpSpPr/>
        <p:nvPr/>
      </p:nvGrpSpPr>
      <p:grpSpPr/>
      <p:sp>
        <p:nvSpPr>
          <p:cNvPr id="75" name="Google Shape;75;p32"/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" name="Google Shape;76;p32"/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77" name="Google Shape;77;p32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" name="Google Shape;78;p32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32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" name="Google Shape;7;p21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har char="•"/>
              <a:defRPr sz="32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har char="–"/>
              <a:defRPr sz="2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har char="–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har char="»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" name="Google Shape;84;p1"/>
          <p:cNvSpPr>
            <a:spLocks noGrp="1"/>
          </p:cNvSpPr>
          <p:nvPr/>
        </p:nvSpPr>
        <p:spPr>
          <a:xfrm>
            <a:off x="1005840" y="1005840"/>
            <a:ext cx="12618600" cy="89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Hybrid TimeMixer-XGBoost PM2.5 Forecasting App</a:t>
            </a:r>
          </a:p>
        </p:txBody>
      </p:sp>
      <p:sp>
        <p:nvSpPr>
          <p:cNvPr id="85" name="Google Shape;85;p1"/>
          <p:cNvSpPr>
            <a:spLocks noGrp="1"/>
          </p:cNvSpPr>
          <p:nvPr/>
        </p:nvSpPr>
        <p:spPr>
          <a:xfrm>
            <a:off x="0" y="2743200"/>
            <a:ext cx="1463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DAP391m Final Slide Report</a:t>
            </a:r>
          </a:p>
        </p:txBody>
      </p:sp>
      <p:sp>
        <p:nvSpPr>
          <p:cNvPr id="86" name="Google Shape;86;p1"/>
          <p:cNvSpPr>
            <a:spLocks noGrp="1"/>
          </p:cNvSpPr>
          <p:nvPr/>
        </p:nvSpPr>
        <p:spPr>
          <a:xfrm>
            <a:off x="0" y="3127248"/>
            <a:ext cx="1463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Artificial Intelligence &amp; Data Science Project</a:t>
            </a:r>
          </a:p>
        </p:txBody>
      </p:sp>
      <p:sp>
        <p:nvSpPr>
          <p:cNvPr id="87" name="Google Shape;87;p1"/>
          <p:cNvSpPr>
            <a:spLocks noGrp="1"/>
          </p:cNvSpPr>
          <p:nvPr/>
        </p:nvSpPr>
        <p:spPr>
          <a:xfrm>
            <a:off x="0" y="3511296"/>
            <a:ext cx="1463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FPT University | Ho Chi Minh City</a:t>
            </a:r>
          </a:p>
        </p:txBody>
      </p:sp>
      <p:sp>
        <p:nvSpPr>
          <p:cNvPr id="88" name="Google Shape;88;p1"/>
          <p:cNvSpPr>
            <a:spLocks noGrp="1"/>
          </p:cNvSpPr>
          <p:nvPr/>
        </p:nvSpPr>
        <p:spPr>
          <a:xfrm>
            <a:off x="-102150" y="3880289"/>
            <a:ext cx="14630400" cy="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82D34"/>
                </a:solidFill>
              </a:rPr>
              <a:t>Students: Dong Bao Han | Tran Loi Kieu Nhi | Pham Hoang Tu Ngan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282D34"/>
                </a:solidFill>
              </a:rPr>
              <a:t>Supervisor / Mentor: Le Vo Minh Thu</a:t>
            </a:r>
          </a:p>
        </p:txBody>
      </p:sp>
      <p:sp>
        <p:nvSpPr>
          <p:cNvPr id="89" name="Google Shape;89;p1"/>
          <p:cNvSpPr>
            <a:spLocks noGrp="1"/>
          </p:cNvSpPr>
          <p:nvPr/>
        </p:nvSpPr>
        <p:spPr>
          <a:xfrm>
            <a:off x="2011790" y="5038715"/>
            <a:ext cx="10789800" cy="73200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Five UK monitoring stations - five seeds - 30 epochs</a:t>
            </a:r>
          </a:p>
        </p:txBody>
      </p:sp>
      <p:sp>
        <p:nvSpPr>
          <p:cNvPr id="90" name="Google Shape;90;p1"/>
          <p:cNvSpPr>
            <a:spLocks noGrp="1"/>
          </p:cNvSpPr>
          <p:nvPr/>
        </p:nvSpPr>
        <p:spPr>
          <a:xfrm>
            <a:off x="364775" y="5371550"/>
            <a:ext cx="146304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Target: hourly PM2.5 | Horizons: 1, 6, 12, 24, 48 hours</a:t>
            </a:r>
          </a:p>
        </p:txBody>
      </p:sp>
      <p:sp>
        <p:nvSpPr>
          <p:cNvPr id="91" name="Google Shape;91;p1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" name="Google Shape;96;p2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Presentation Outline</a:t>
            </a:r>
          </a:p>
        </p:txBody>
      </p:sp>
      <p:sp>
        <p:nvSpPr>
          <p:cNvPr id="97" name="Google Shape;97;p2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PART 1: Problem and Data Understanding</a:t>
            </a:r>
          </a:p>
        </p:txBody>
      </p:sp>
      <p:sp>
        <p:nvSpPr>
          <p:cNvPr id="98" name="Google Shape;98;p2"/>
          <p:cNvSpPr>
            <a:spLocks noGrp="1"/>
          </p:cNvSpPr>
          <p:nvPr/>
        </p:nvSpPr>
        <p:spPr>
          <a:xfrm>
            <a:off x="685800" y="1783080"/>
            <a:ext cx="62178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Slides 3-8: problem, research questions, dataset, EDA, and SQL-style analysis</a:t>
            </a:r>
          </a:p>
        </p:txBody>
      </p:sp>
      <p:sp>
        <p:nvSpPr>
          <p:cNvPr id="99" name="Google Shape;99;p2"/>
          <p:cNvSpPr>
            <a:spLocks noGrp="1"/>
          </p:cNvSpPr>
          <p:nvPr/>
        </p:nvSpPr>
        <p:spPr>
          <a:xfrm>
            <a:off x="822960" y="2651760"/>
            <a:ext cx="59436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3: Modelling and Evaluation</a:t>
            </a:r>
          </a:p>
        </p:txBody>
      </p:sp>
      <p:sp>
        <p:nvSpPr>
          <p:cNvPr id="100" name="Google Shape;100;p2"/>
          <p:cNvSpPr>
            <a:spLocks noGrp="1"/>
          </p:cNvSpPr>
          <p:nvPr/>
        </p:nvSpPr>
        <p:spPr>
          <a:xfrm>
            <a:off x="7680960" y="1783080"/>
            <a:ext cx="62178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Slides 12-16: partitioning, model training, evaluation, tuning, and final pipeline</a:t>
            </a:r>
          </a:p>
        </p:txBody>
      </p:sp>
      <p:sp>
        <p:nvSpPr>
          <p:cNvPr id="101" name="Google Shape;101;p2"/>
          <p:cNvSpPr>
            <a:spLocks noGrp="1"/>
          </p:cNvSpPr>
          <p:nvPr/>
        </p:nvSpPr>
        <p:spPr>
          <a:xfrm>
            <a:off x="7818120" y="2651760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2: Feature and Visualization Design</a:t>
            </a:r>
          </a:p>
        </p:txBody>
      </p:sp>
      <p:sp>
        <p:nvSpPr>
          <p:cNvPr id="102" name="Google Shape;102;p2"/>
          <p:cNvSpPr>
            <a:spLocks noGrp="1"/>
          </p:cNvSpPr>
          <p:nvPr/>
        </p:nvSpPr>
        <p:spPr>
          <a:xfrm>
            <a:off x="685800" y="4846320"/>
            <a:ext cx="62178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Slides 9-11: feature engineering, advanced visualization, and interactive dashboard</a:t>
            </a:r>
          </a:p>
        </p:txBody>
      </p:sp>
      <p:sp>
        <p:nvSpPr>
          <p:cNvPr id="103" name="Google Shape;103;p2"/>
          <p:cNvSpPr>
            <a:spLocks noGrp="1"/>
          </p:cNvSpPr>
          <p:nvPr/>
        </p:nvSpPr>
        <p:spPr>
          <a:xfrm>
            <a:off x="822960" y="5715000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4: Application and Reflection</a:t>
            </a:r>
          </a:p>
        </p:txBody>
      </p:sp>
      <p:sp>
        <p:nvSpPr>
          <p:cNvPr id="104" name="Google Shape;104;p2"/>
          <p:cNvSpPr>
            <a:spLocks noGrp="1"/>
          </p:cNvSpPr>
          <p:nvPr/>
        </p:nvSpPr>
        <p:spPr>
          <a:xfrm>
            <a:off x="7680960" y="4846320"/>
            <a:ext cx="62178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Slides 17-20: prototype, deployment ideas, conclusion, and Q&amp;A</a:t>
            </a:r>
          </a:p>
        </p:txBody>
      </p:sp>
      <p:sp>
        <p:nvSpPr>
          <p:cNvPr id="105" name="Google Shape;105;p2"/>
          <p:cNvSpPr>
            <a:spLocks noGrp="1"/>
          </p:cNvSpPr>
          <p:nvPr/>
        </p:nvSpPr>
        <p:spPr>
          <a:xfrm>
            <a:off x="7818120" y="5715000"/>
            <a:ext cx="5943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106" name="Google Shape;106;p2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" name="Google Shape;111;p3"/>
          <p:cNvSpPr>
            <a:spLocks noGrp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437A"/>
          </a:solidFill>
          <a:ln w="9525" cmpd="sng">
            <a:solidFill>
              <a:srgbClr val="1D437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Step 1 - Problem Understanding</a:t>
            </a:r>
          </a:p>
        </p:txBody>
      </p:sp>
      <p:sp>
        <p:nvSpPr>
          <p:cNvPr id="112" name="Google Shape;112;p3"/>
          <p:cNvSpPr>
            <a:spLocks noGrp="1"/>
          </p:cNvSpPr>
          <p:nvPr/>
        </p:nvSpPr>
        <p:spPr>
          <a:xfrm>
            <a:off x="0" y="2788920"/>
            <a:ext cx="14630400" cy="68580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Goal: forecast hourly PM2.5 concentration for multiple future horizons.</a:t>
            </a:r>
          </a:p>
        </p:txBody>
      </p:sp>
      <p:sp>
        <p:nvSpPr>
          <p:cNvPr id="113" name="Google Shape;113;p3"/>
          <p:cNvSpPr>
            <a:spLocks noGrp="1"/>
          </p:cNvSpPr>
          <p:nvPr/>
        </p:nvSpPr>
        <p:spPr>
          <a:xfrm>
            <a:off x="0" y="2916936"/>
            <a:ext cx="1463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</a:t>
            </a:r>
          </a:p>
        </p:txBody>
      </p:sp>
      <p:sp>
        <p:nvSpPr>
          <p:cNvPr id="114" name="Google Shape;114;p3"/>
          <p:cNvSpPr>
            <a:spLocks noGrp="1"/>
          </p:cNvSpPr>
          <p:nvPr/>
        </p:nvSpPr>
        <p:spPr>
          <a:xfrm>
            <a:off x="658368" y="3657600"/>
            <a:ext cx="13304520" cy="155448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? PM2.5 changes quickly and affects public-health interpretation.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? A single-station result is weak, so the project evaluates five monitoring stations.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? The study checks whether residual correction can safely improve TimeMixer forecasts.</a:t>
            </a:r>
          </a:p>
        </p:txBody>
      </p:sp>
      <p:sp>
        <p:nvSpPr>
          <p:cNvPr id="115" name="Google Shape;115;p3"/>
          <p:cNvSpPr>
            <a:spLocks noGrp="1"/>
          </p:cNvSpPr>
          <p:nvPr/>
        </p:nvSpPr>
        <p:spPr>
          <a:xfrm>
            <a:off x="658368" y="4069080"/>
            <a:ext cx="1330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Forecasting task: predict 1, 6, 12, 24, and 48 hours ahead using historical PM2.5 only.</a:t>
            </a:r>
          </a:p>
        </p:txBody>
      </p:sp>
      <p:sp>
        <p:nvSpPr>
          <p:cNvPr id="116" name="Google Shape;116;p3"/>
          <p:cNvSpPr>
            <a:spLocks noGrp="1"/>
          </p:cNvSpPr>
          <p:nvPr/>
        </p:nvSpPr>
        <p:spPr>
          <a:xfrm>
            <a:off x="1005840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3"/>
          <p:cNvSpPr>
            <a:spLocks noGrp="1"/>
          </p:cNvSpPr>
          <p:nvPr/>
        </p:nvSpPr>
        <p:spPr>
          <a:xfrm>
            <a:off x="1051560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118" name="Google Shape;118;p3"/>
          <p:cNvSpPr>
            <a:spLocks noGrp="1"/>
          </p:cNvSpPr>
          <p:nvPr/>
        </p:nvSpPr>
        <p:spPr>
          <a:xfrm>
            <a:off x="5431536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9" name="Google Shape;119;p3"/>
          <p:cNvSpPr>
            <a:spLocks noGrp="1"/>
          </p:cNvSpPr>
          <p:nvPr/>
        </p:nvSpPr>
        <p:spPr>
          <a:xfrm>
            <a:off x="5477255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120" name="Google Shape;120;p3"/>
          <p:cNvSpPr>
            <a:spLocks noGrp="1"/>
          </p:cNvSpPr>
          <p:nvPr/>
        </p:nvSpPr>
        <p:spPr>
          <a:xfrm>
            <a:off x="9857232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3"/>
          <p:cNvSpPr>
            <a:spLocks noGrp="1"/>
          </p:cNvSpPr>
          <p:nvPr/>
        </p:nvSpPr>
        <p:spPr>
          <a:xfrm>
            <a:off x="9902952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" name="Google Shape;126;p4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Research Questions</a:t>
            </a:r>
          </a:p>
        </p:txBody>
      </p:sp>
      <p:sp>
        <p:nvSpPr>
          <p:cNvPr id="127" name="Google Shape;127;p4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RQ1: Which model forecasts hourly PM2.5 most accurately across horizons?</a:t>
            </a:r>
          </a:p>
        </p:txBody>
      </p:sp>
      <p:graphicFrame>
        <p:nvGraphicFramePr>
          <p:cNvPr id="133" name="Google Shape;128;p4"/>
          <p:cNvGraphicFramePr/>
          <p:nvPr/>
        </p:nvGraphicFramePr>
        <p:xfrm>
          <a:off x="594360" y="1554480"/>
          <a:ext cx="13441675" cy="521205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3474725"/>
                <a:gridCol w="9966950"/>
              </a:tblGrid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 question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Description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Task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Forecast hourly PM2.5 at 1, 6, 12, 24 and 48 hours.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Scope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Five UK traffic, urban-background and rural stations.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Inputs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Historical PM2.5, calendar, missingness and instrument regime.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Challenge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Unequal histories, long gaps, negative readings and sensor changes.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Success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Lower locked-test MAE than strong matched baselines.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4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RQ2: Does the gated TimeMixer-XGBoost residual layer improve the TimeMixer base model?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" name="Google Shape;134;p5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2 - Data Understanding</a:t>
            </a:r>
          </a:p>
        </p:txBody>
      </p:sp>
      <p:sp>
        <p:nvSpPr>
          <p:cNvPr id="135" name="Google Shape;135;p5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Dataset scope</a:t>
            </a:r>
          </a:p>
        </p:txBody>
      </p:sp>
      <p:graphicFrame>
        <p:nvGraphicFramePr>
          <p:cNvPr id="141" name="Google Shape;136;p5"/>
          <p:cNvGraphicFramePr/>
          <p:nvPr/>
        </p:nvGraphicFramePr>
        <p:xfrm>
          <a:off x="594372" y="2034540"/>
          <a:ext cx="13441675" cy="416050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1188725"/>
                <a:gridCol w="12252950"/>
              </a:tblGrid>
              <a:tr h="83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#</a:t>
                      </a:r>
                      <a:endParaRPr sz="18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Research question</a:t>
                      </a:r>
                      <a:endParaRPr sz="18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RQ1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Does the gated hybrid improve TimeMixer and the strongest matched comparator?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RQ2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How does effectiveness vary across stations and forecast horizons?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RQ3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Do de-biasing, robust loss and rolling calibration prevent over-correction?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RQ4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Are conclusions stable across five seeds and station data-quality regimes?</a:t>
                      </a:r>
                      <a:endParaRPr sz="17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5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Five UK stations: MY1, BIR_A4540, HP1, CHB, and KC1.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Hourly PM2.5 time series.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Site types include urban traffic, urban background, and rural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2" name="Google Shape;142;p6"/>
          <p:cNvSpPr>
            <a:spLocks noGrp="1"/>
          </p:cNvSpPr>
          <p:nvPr/>
        </p:nvSpPr>
        <p:spPr>
          <a:xfrm>
            <a:off x="594360" y="411480"/>
            <a:ext cx="134418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3 - EDA: Univariate Analysis</a:t>
            </a:r>
          </a:p>
        </p:txBody>
      </p:sp>
      <p:sp>
        <p:nvSpPr>
          <p:cNvPr id="143" name="Google Shape;143;p6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What was inspected?</a:t>
            </a:r>
          </a:p>
        </p:txBody>
      </p:sp>
      <p:graphicFrame>
        <p:nvGraphicFramePr>
          <p:cNvPr id="153" name="Google Shape;144;p6"/>
          <p:cNvGraphicFramePr/>
          <p:nvPr/>
        </p:nvGraphicFramePr>
        <p:xfrm>
          <a:off x="245560" y="1395325"/>
          <a:ext cx="5067700" cy="594445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1748825"/>
                <a:gridCol w="3318875"/>
              </a:tblGrid>
              <a:tr h="724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Property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Value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738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Source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UK-Air hourly PM2.5 exports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38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Stations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MY1, BIR_A4540, HP1, CHB, KC1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38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Site types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 traffic, 2 urban background, 1 rural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38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History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Station-specific records through 2025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1086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Target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Hourly PM2.5 concentration (µg/m³)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1180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Design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Independent model fitting per station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6"/>
          <p:cNvSpPr>
            <a:spLocks noGrp="1"/>
          </p:cNvSpPr>
          <p:nvPr/>
        </p:nvSpPr>
        <p:spPr>
          <a:xfrm>
            <a:off x="5586730" y="1234440"/>
            <a:ext cx="5852160" cy="37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PM2.5 distribution and extreme values.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Missing-value rate and annual coverage.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Negative measurements and long gaps.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Hourly and seasonal patterns.</a:t>
            </a:r>
          </a:p>
        </p:txBody>
      </p:sp>
      <p:sp>
        <p:nvSpPr>
          <p:cNvPr id="146" name="Google Shape;146;p6"/>
          <p:cNvSpPr>
            <a:spLocks noGrp="1"/>
          </p:cNvSpPr>
          <p:nvPr/>
        </p:nvSpPr>
        <p:spPr>
          <a:xfrm>
            <a:off x="5586730" y="1656715"/>
            <a:ext cx="8209280" cy="127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Finding</a:t>
            </a:r>
          </a:p>
        </p:txBody>
      </p:sp>
      <p:sp>
        <p:nvSpPr>
          <p:cNvPr id="148" name="Google Shape;148;p6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PM2.5 series is noisy, skewed, and gap-prone, so cleaning decisions must be auditable before modelling.</a:t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5875020" y="2785110"/>
            <a:ext cx="7468235" cy="4850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" name="Google Shape;153;p7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3 - EDA: Bivariate and Multivariate Analysis</a:t>
            </a:r>
          </a:p>
        </p:txBody>
      </p:sp>
      <p:sp>
        <p:nvSpPr>
          <p:cNvPr id="154" name="Google Shape;154;p7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Cross-station comparison</a:t>
            </a:r>
          </a:p>
        </p:txBody>
      </p:sp>
      <p:sp>
        <p:nvSpPr>
          <p:cNvPr id="157" name="Google Shape;157;p7"/>
          <p:cNvSpPr>
            <a:spLocks noGrp="1"/>
          </p:cNvSpPr>
          <p:nvPr/>
        </p:nvSpPr>
        <p:spPr>
          <a:xfrm>
            <a:off x="474345" y="1306830"/>
            <a:ext cx="5943600" cy="37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Traffic stations generally show stronger short-term variation.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Rural/background stations have different missingness and event behavior.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Horizon difficulty increases from 1h to 48h.</a:t>
            </a:r>
          </a:p>
        </p:txBody>
      </p:sp>
      <p:sp>
        <p:nvSpPr>
          <p:cNvPr id="158" name="Google Shape;158;p7"/>
          <p:cNvSpPr>
            <a:spLocks noGrp="1"/>
          </p:cNvSpPr>
          <p:nvPr/>
        </p:nvSpPr>
        <p:spPr>
          <a:xfrm>
            <a:off x="474345" y="1784985"/>
            <a:ext cx="6217920" cy="138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implication</a:t>
            </a:r>
          </a:p>
        </p:txBody>
      </p:sp>
      <p:sp>
        <p:nvSpPr>
          <p:cNvPr id="160" name="Google Shape;160;p7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residual layer may help only when calibration evidence shows that TimeMixer errors are systematic.</a:t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6836410" y="1234440"/>
            <a:ext cx="7283450" cy="640016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" y="3168650"/>
            <a:ext cx="6722110" cy="238823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2545" y="5556885"/>
            <a:ext cx="679323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" name="Google Shape;165;p8"/>
          <p:cNvSpPr>
            <a:spLocks noGrp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437A"/>
          </a:solidFill>
          <a:ln w="9525" cmpd="sng">
            <a:solidFill>
              <a:srgbClr val="1D437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SQL Queries Linked to Research Questions</a:t>
            </a:r>
          </a:p>
        </p:txBody>
      </p:sp>
      <p:sp>
        <p:nvSpPr>
          <p:cNvPr id="166" name="Google Shape;166;p8"/>
          <p:cNvSpPr>
            <a:spLocks noGrp="1"/>
          </p:cNvSpPr>
          <p:nvPr/>
        </p:nvSpPr>
        <p:spPr>
          <a:xfrm>
            <a:off x="0" y="2788920"/>
            <a:ext cx="14630400" cy="68580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Example analytical queries</a:t>
            </a:r>
          </a:p>
        </p:txBody>
      </p:sp>
      <p:sp>
        <p:nvSpPr>
          <p:cNvPr id="167" name="Google Shape;167;p8"/>
          <p:cNvSpPr>
            <a:spLocks noGrp="1"/>
          </p:cNvSpPr>
          <p:nvPr/>
        </p:nvSpPr>
        <p:spPr>
          <a:xfrm>
            <a:off x="0" y="2916936"/>
            <a:ext cx="1463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RQ1: group MAE by model, station, and horizon.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RQ2: compare TimeMixer MAE against gated hybrid MAE.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RQ3: compare available-history results with common-history 2021-2025 results.</a:t>
            </a:r>
          </a:p>
        </p:txBody>
      </p:sp>
      <p:sp>
        <p:nvSpPr>
          <p:cNvPr id="168" name="Google Shape;168;p8"/>
          <p:cNvSpPr>
            <a:spLocks noGrp="1"/>
          </p:cNvSpPr>
          <p:nvPr/>
        </p:nvSpPr>
        <p:spPr>
          <a:xfrm>
            <a:off x="658368" y="3657600"/>
            <a:ext cx="13304520" cy="155448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Query output used in slides</a:t>
            </a:r>
          </a:p>
        </p:txBody>
      </p:sp>
      <p:sp>
        <p:nvSpPr>
          <p:cNvPr id="169" name="Google Shape;169;p8"/>
          <p:cNvSpPr>
            <a:spLocks noGrp="1"/>
          </p:cNvSpPr>
          <p:nvPr/>
        </p:nvSpPr>
        <p:spPr>
          <a:xfrm>
            <a:off x="658368" y="4069080"/>
            <a:ext cx="1330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ranking, station effectiveness, residual-gate summary, and history-sensitivity comparison tables.</a:t>
            </a:r>
          </a:p>
        </p:txBody>
      </p:sp>
      <p:sp>
        <p:nvSpPr>
          <p:cNvPr id="170" name="Google Shape;170;p8"/>
          <p:cNvSpPr>
            <a:spLocks noGrp="1"/>
          </p:cNvSpPr>
          <p:nvPr/>
        </p:nvSpPr>
        <p:spPr>
          <a:xfrm>
            <a:off x="1005840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1" name="Google Shape;171;p8"/>
          <p:cNvSpPr>
            <a:spLocks noGrp="1"/>
          </p:cNvSpPr>
          <p:nvPr/>
        </p:nvSpPr>
        <p:spPr>
          <a:xfrm>
            <a:off x="1051560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172" name="Google Shape;172;p8"/>
          <p:cNvSpPr>
            <a:spLocks noGrp="1"/>
          </p:cNvSpPr>
          <p:nvPr/>
        </p:nvSpPr>
        <p:spPr>
          <a:xfrm>
            <a:off x="5431536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8"/>
          <p:cNvSpPr>
            <a:spLocks noGrp="1"/>
          </p:cNvSpPr>
          <p:nvPr/>
        </p:nvSpPr>
        <p:spPr>
          <a:xfrm>
            <a:off x="5477255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174" name="Google Shape;174;p8"/>
          <p:cNvSpPr>
            <a:spLocks noGrp="1"/>
          </p:cNvSpPr>
          <p:nvPr/>
        </p:nvSpPr>
        <p:spPr>
          <a:xfrm>
            <a:off x="9857232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" name="Google Shape;175;p8"/>
          <p:cNvSpPr>
            <a:spLocks noGrp="1"/>
          </p:cNvSpPr>
          <p:nvPr/>
        </p:nvSpPr>
        <p:spPr>
          <a:xfrm>
            <a:off x="9902952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" name="Google Shape;180;p9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4 - Feature Engineering</a:t>
            </a:r>
          </a:p>
        </p:txBody>
      </p:sp>
      <p:sp>
        <p:nvSpPr>
          <p:cNvPr id="181" name="Google Shape;181;p9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Origin-safe feature design</a:t>
            </a:r>
          </a:p>
        </p:txBody>
      </p:sp>
      <p:graphicFrame>
        <p:nvGraphicFramePr>
          <p:cNvPr id="187" name="Google Shape;182;p9"/>
          <p:cNvGraphicFramePr/>
          <p:nvPr/>
        </p:nvGraphicFramePr>
        <p:xfrm>
          <a:off x="594360" y="1975430"/>
          <a:ext cx="13441675" cy="425190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2103125"/>
                <a:gridCol w="11338550"/>
              </a:tblGrid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Step</a:t>
                      </a:r>
                      <a:endParaRPr sz="17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7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Rule</a:t>
                      </a:r>
                      <a:endParaRPr sz="17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Parse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Normalize UK-Air timestamps to a complete hourly grid.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Validate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Convert non-numeric and negative PM2.5 values to missing.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Interpolate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Fill bounded internal gaps of at most three hours only.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Retain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Keep missingness, instrument and station-quality indicators.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Split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Fit scalers and models before calibration and locked testing.</a:t>
                      </a:r>
                      <a:endParaRPr sz="16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9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Lag features from past PM2.5 only.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Rolling statistics based only on observations available at forecast origin.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Calendar features such as hour, day, week, and seasonality.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Gap, interpolation, and instrument-quality flags.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" name="Google Shape;188;p10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Advanced Data Visualization</a:t>
            </a:r>
          </a:p>
        </p:txBody>
      </p:sp>
      <p:sp>
        <p:nvSpPr>
          <p:cNvPr id="189" name="Google Shape;189;p10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Main visualization groups</a:t>
            </a:r>
          </a:p>
        </p:txBody>
      </p:sp>
      <p:sp>
        <p:nvSpPr>
          <p:cNvPr id="190" name="Google Shape;190;p10"/>
          <p:cNvSpPr>
            <a:spLocks noGrp="1"/>
          </p:cNvSpPr>
          <p:nvPr/>
        </p:nvSpPr>
        <p:spPr>
          <a:xfrm>
            <a:off x="777240" y="274320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Data overview</a:t>
            </a:r>
          </a:p>
        </p:txBody>
      </p:sp>
      <p:sp>
        <p:nvSpPr>
          <p:cNvPr id="191" name="Google Shape;191;p10"/>
          <p:cNvSpPr>
            <a:spLocks noGrp="1"/>
          </p:cNvSpPr>
          <p:nvPr/>
        </p:nvSpPr>
        <p:spPr>
          <a:xfrm>
            <a:off x="822960" y="297180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quality</a:t>
            </a:r>
          </a:p>
        </p:txBody>
      </p:sp>
      <p:cxnSp>
        <p:nvCxnSpPr>
          <p:cNvPr id="225" name="Google Shape;192;p10"/>
          <p:cNvCxnSpPr/>
          <p:nvPr/>
        </p:nvCxnSpPr>
        <p:spPr>
          <a:xfrm>
            <a:off x="2743200" y="3291840"/>
            <a:ext cx="914400" cy="0"/>
          </a:xfrm>
          <a:prstGeom prst="straightConnector1">
            <a:avLst/>
          </a:prstGeom>
          <a:ln w="38100" cap="flat">
            <a:solidFill>
              <a:srgbClr val="2C74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0"/>
          <p:cNvSpPr>
            <a:spLocks noGrp="1"/>
          </p:cNvSpPr>
          <p:nvPr/>
        </p:nvSpPr>
        <p:spPr>
          <a:xfrm>
            <a:off x="3657600" y="274320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Model comparison</a:t>
            </a:r>
          </a:p>
        </p:txBody>
      </p:sp>
      <p:sp>
        <p:nvSpPr>
          <p:cNvPr id="194" name="Google Shape;194;p10"/>
          <p:cNvSpPr>
            <a:spLocks noGrp="1"/>
          </p:cNvSpPr>
          <p:nvPr/>
        </p:nvSpPr>
        <p:spPr>
          <a:xfrm>
            <a:off x="3703320" y="297180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Residual diagnostics</a:t>
            </a:r>
          </a:p>
        </p:txBody>
      </p:sp>
      <p:cxnSp>
        <p:nvCxnSpPr>
          <p:cNvPr id="228" name="Google Shape;195;p10"/>
          <p:cNvCxnSpPr/>
          <p:nvPr/>
        </p:nvCxnSpPr>
        <p:spPr>
          <a:xfrm>
            <a:off x="5623560" y="3291840"/>
            <a:ext cx="1005840" cy="0"/>
          </a:xfrm>
          <a:prstGeom prst="straightConnector1">
            <a:avLst/>
          </a:prstGeom>
          <a:ln w="38100" cap="flat">
            <a:solidFill>
              <a:srgbClr val="2C74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6" name="Google Shape;196;p10"/>
          <p:cNvSpPr>
            <a:spLocks noGrp="1"/>
          </p:cNvSpPr>
          <p:nvPr/>
        </p:nvSpPr>
        <p:spPr>
          <a:xfrm>
            <a:off x="6629400" y="274320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Sensitivity analysis</a:t>
            </a:r>
          </a:p>
        </p:txBody>
      </p:sp>
      <p:sp>
        <p:nvSpPr>
          <p:cNvPr id="197" name="Google Shape;197;p10"/>
          <p:cNvSpPr>
            <a:spLocks noGrp="1"/>
          </p:cNvSpPr>
          <p:nvPr/>
        </p:nvSpPr>
        <p:spPr>
          <a:xfrm>
            <a:off x="6675120" y="297180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report keeps only the most important figures in the main text and moves extra EDA to supporting material.</a:t>
            </a:r>
          </a:p>
        </p:txBody>
      </p:sp>
      <p:cxnSp>
        <p:nvCxnSpPr>
          <p:cNvPr id="231" name="Google Shape;198;p10"/>
          <p:cNvCxnSpPr/>
          <p:nvPr/>
        </p:nvCxnSpPr>
        <p:spPr>
          <a:xfrm>
            <a:off x="8595360" y="3291840"/>
            <a:ext cx="960120" cy="0"/>
          </a:xfrm>
          <a:prstGeom prst="straightConnector1">
            <a:avLst/>
          </a:prstGeom>
          <a:ln w="38100" cap="flat">
            <a:solidFill>
              <a:srgbClr val="2C74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10"/>
          <p:cNvSpPr>
            <a:spLocks noGrp="1"/>
          </p:cNvSpPr>
          <p:nvPr/>
        </p:nvSpPr>
        <p:spPr>
          <a:xfrm>
            <a:off x="9555480" y="274320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" name="Google Shape;200;p10"/>
          <p:cNvSpPr>
            <a:spLocks noGrp="1"/>
          </p:cNvSpPr>
          <p:nvPr/>
        </p:nvSpPr>
        <p:spPr>
          <a:xfrm>
            <a:off x="9601200" y="297180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cxnSp>
        <p:nvCxnSpPr>
          <p:cNvPr id="234" name="Google Shape;201;p10"/>
          <p:cNvCxnSpPr/>
          <p:nvPr/>
        </p:nvCxnSpPr>
        <p:spPr>
          <a:xfrm>
            <a:off x="11521440" y="3291840"/>
            <a:ext cx="594360" cy="0"/>
          </a:xfrm>
          <a:prstGeom prst="straightConnector1">
            <a:avLst/>
          </a:prstGeom>
          <a:ln w="38100" cap="flat">
            <a:solidFill>
              <a:srgbClr val="2C74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02" name="Google Shape;202;p10"/>
          <p:cNvSpPr>
            <a:spLocks noGrp="1"/>
          </p:cNvSpPr>
          <p:nvPr/>
        </p:nvSpPr>
        <p:spPr>
          <a:xfrm>
            <a:off x="12115800" y="2743200"/>
            <a:ext cx="1965960" cy="10972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10"/>
          <p:cNvSpPr>
            <a:spLocks noGrp="1"/>
          </p:cNvSpPr>
          <p:nvPr/>
        </p:nvSpPr>
        <p:spPr>
          <a:xfrm>
            <a:off x="12161520" y="2971800"/>
            <a:ext cx="18745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04" name="Google Shape;204;p10"/>
          <p:cNvSpPr>
            <a:spLocks noGrp="1"/>
          </p:cNvSpPr>
          <p:nvPr/>
        </p:nvSpPr>
        <p:spPr>
          <a:xfrm>
            <a:off x="5486395" y="1668778"/>
            <a:ext cx="3657600" cy="6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05" name="Google Shape;205;p10"/>
          <p:cNvSpPr>
            <a:spLocks noGrp="1"/>
          </p:cNvSpPr>
          <p:nvPr/>
        </p:nvSpPr>
        <p:spPr>
          <a:xfrm>
            <a:off x="1143000" y="4754880"/>
            <a:ext cx="12344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06" name="Google Shape;206;p10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" name="Google Shape;211;p11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Interactive Dashboard</a:t>
            </a:r>
          </a:p>
        </p:txBody>
      </p:sp>
      <p:sp>
        <p:nvSpPr>
          <p:cNvPr id="212" name="Google Shape;212;p11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Dashboard purpose</a:t>
            </a:r>
          </a:p>
        </p:txBody>
      </p:sp>
      <p:graphicFrame>
        <p:nvGraphicFramePr>
          <p:cNvPr id="218" name="Google Shape;213;p11"/>
          <p:cNvGraphicFramePr/>
          <p:nvPr/>
        </p:nvGraphicFramePr>
        <p:xfrm>
          <a:off x="594360" y="1600200"/>
          <a:ext cx="13441675" cy="493780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3383275"/>
                <a:gridCol w="10058400"/>
              </a:tblGrid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Component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Setting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Input history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168 hours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Forecast horizons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1, 6, 12, 24, 48 hours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TimeMixer scales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1, 2, 4, 8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Residual layer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Pseudo-Huber XGBoost per horizon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Robustness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Seeds 0</a:t>
                      </a:r>
                      <a:r>
                        <a:rPr lang="en-US"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4; maximum 30 epochs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Comparators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Persistence, seasonal naive, XGBoost, DLinear, LSTM, TimeMixer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1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project includes an app for exploring generated research artifacts, station data quality, model metrics, and forecast diagnostics.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" name="Google Shape;219;p12"/>
          <p:cNvSpPr>
            <a:spLocks noGrp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437A"/>
          </a:solidFill>
          <a:ln w="9525" cmpd="sng">
            <a:solidFill>
              <a:srgbClr val="1D437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Step 5 - Dataset Partition</a:t>
            </a:r>
          </a:p>
        </p:txBody>
      </p:sp>
      <p:sp>
        <p:nvSpPr>
          <p:cNvPr id="220" name="Google Shape;220;p12"/>
          <p:cNvSpPr>
            <a:spLocks noGrp="1"/>
          </p:cNvSpPr>
          <p:nvPr/>
        </p:nvSpPr>
        <p:spPr>
          <a:xfrm>
            <a:off x="0" y="2788920"/>
            <a:ext cx="14630400" cy="68580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Chronological split</a:t>
            </a:r>
          </a:p>
        </p:txBody>
      </p:sp>
      <p:sp>
        <p:nvSpPr>
          <p:cNvPr id="221" name="Google Shape;221;p12"/>
          <p:cNvSpPr>
            <a:spLocks noGrp="1"/>
          </p:cNvSpPr>
          <p:nvPr/>
        </p:nvSpPr>
        <p:spPr>
          <a:xfrm>
            <a:off x="0" y="2916936"/>
            <a:ext cx="1463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Training: model fitting before 2023.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Validation: early stopping and neural model selection.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Calibration: residual gate selection without test leakage.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Locked test: final evaluation from 2024 onward.</a:t>
            </a:r>
          </a:p>
        </p:txBody>
      </p:sp>
      <p:sp>
        <p:nvSpPr>
          <p:cNvPr id="222" name="Google Shape;222;p12"/>
          <p:cNvSpPr>
            <a:spLocks noGrp="1"/>
          </p:cNvSpPr>
          <p:nvPr/>
        </p:nvSpPr>
        <p:spPr>
          <a:xfrm>
            <a:off x="658368" y="3657600"/>
            <a:ext cx="13304520" cy="155448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Sensitivity split</a:t>
            </a:r>
          </a:p>
        </p:txBody>
      </p:sp>
      <p:sp>
        <p:nvSpPr>
          <p:cNvPr id="223" name="Google Shape;223;p12"/>
          <p:cNvSpPr>
            <a:spLocks noGrp="1"/>
          </p:cNvSpPr>
          <p:nvPr/>
        </p:nvSpPr>
        <p:spPr>
          <a:xfrm>
            <a:off x="658368" y="4069080"/>
            <a:ext cx="1330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second run uses common 2021-2025 history for all stations to test fairness across unequal station histories.</a:t>
            </a:r>
          </a:p>
        </p:txBody>
      </p:sp>
      <p:sp>
        <p:nvSpPr>
          <p:cNvPr id="224" name="Google Shape;224;p12"/>
          <p:cNvSpPr>
            <a:spLocks noGrp="1"/>
          </p:cNvSpPr>
          <p:nvPr/>
        </p:nvSpPr>
        <p:spPr>
          <a:xfrm>
            <a:off x="1005840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12"/>
          <p:cNvSpPr>
            <a:spLocks noGrp="1"/>
          </p:cNvSpPr>
          <p:nvPr/>
        </p:nvSpPr>
        <p:spPr>
          <a:xfrm>
            <a:off x="1051560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26" name="Google Shape;226;p12"/>
          <p:cNvSpPr>
            <a:spLocks noGrp="1"/>
          </p:cNvSpPr>
          <p:nvPr/>
        </p:nvSpPr>
        <p:spPr>
          <a:xfrm>
            <a:off x="5431536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12"/>
          <p:cNvSpPr>
            <a:spLocks noGrp="1"/>
          </p:cNvSpPr>
          <p:nvPr/>
        </p:nvSpPr>
        <p:spPr>
          <a:xfrm>
            <a:off x="5477255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28" name="Google Shape;228;p12"/>
          <p:cNvSpPr>
            <a:spLocks noGrp="1"/>
          </p:cNvSpPr>
          <p:nvPr/>
        </p:nvSpPr>
        <p:spPr>
          <a:xfrm>
            <a:off x="9857232" y="5897880"/>
            <a:ext cx="3858768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2"/>
          <p:cNvSpPr>
            <a:spLocks noGrp="1"/>
          </p:cNvSpPr>
          <p:nvPr/>
        </p:nvSpPr>
        <p:spPr>
          <a:xfrm>
            <a:off x="9902952" y="6053328"/>
            <a:ext cx="37673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4" name="Google Shape;234;p13"/>
          <p:cNvSpPr>
            <a:spLocks noGrp="1"/>
          </p:cNvSpPr>
          <p:nvPr/>
        </p:nvSpPr>
        <p:spPr>
          <a:xfrm>
            <a:off x="594360" y="411480"/>
            <a:ext cx="134418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6 - Data Modelling</a:t>
            </a:r>
          </a:p>
        </p:txBody>
      </p:sp>
      <p:sp>
        <p:nvSpPr>
          <p:cNvPr id="235" name="Google Shape;235;p13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Compared models</a:t>
            </a:r>
          </a:p>
        </p:txBody>
      </p:sp>
      <p:pic>
        <p:nvPicPr>
          <p:cNvPr id="243" name="Google Shape;236;p13"/>
          <p:cNvPicPr>
            <a:picLocks noChangeAspect="1"/>
          </p:cNvPicPr>
          <p:nvPr/>
        </p:nvPicPr>
        <p:blipFill rotWithShape="1">
          <a:blip r:embed="rId1"/>
          <a:srcRect l="201" r="201"/>
          <a:stretch>
            <a:fillRect/>
          </a:stretch>
        </p:blipFill>
        <p:spPr>
          <a:xfrm>
            <a:off x="297337" y="3153725"/>
            <a:ext cx="14035729" cy="4206250"/>
          </a:xfrm>
          <a:prstGeom prst="rect">
            <a:avLst/>
          </a:prstGeom>
          <a:ln>
            <a:noFill/>
          </a:ln>
        </p:spPr>
      </p:pic>
      <p:sp>
        <p:nvSpPr>
          <p:cNvPr id="237" name="Google Shape;237;p13"/>
          <p:cNvSpPr>
            <a:spLocks noGrp="1"/>
          </p:cNvSpPr>
          <p:nvPr/>
        </p:nvSpPr>
        <p:spPr>
          <a:xfrm>
            <a:off x="1528085" y="1421895"/>
            <a:ext cx="43890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Persistence and seasonal-naive.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XGBoost.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LSTM.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DLinear.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TimeMixer.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Static hybrid and gated hybrid TimeMixer-XGBoost.</a:t>
            </a:r>
          </a:p>
        </p:txBody>
      </p:sp>
      <p:sp>
        <p:nvSpPr>
          <p:cNvPr id="238" name="Google Shape;238;p13"/>
          <p:cNvSpPr>
            <a:spLocks noGrp="1"/>
          </p:cNvSpPr>
          <p:nvPr/>
        </p:nvSpPr>
        <p:spPr>
          <a:xfrm>
            <a:off x="1528079" y="1851250"/>
            <a:ext cx="79935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Proposed method</a:t>
            </a:r>
          </a:p>
        </p:txBody>
      </p:sp>
      <p:sp>
        <p:nvSpPr>
          <p:cNvPr id="239" name="Google Shape;239;p13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TimeMixer produces the base forecast; XGBoost learns residual correction; a calibration gate controls whether correction is used.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4" name="Google Shape;244;p14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7 - Model Evaluation Table</a:t>
            </a:r>
          </a:p>
        </p:txBody>
      </p:sp>
      <p:sp>
        <p:nvSpPr>
          <p:cNvPr id="245" name="Google Shape;245;p14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Main result</a:t>
            </a:r>
          </a:p>
        </p:txBody>
      </p:sp>
      <p:sp>
        <p:nvSpPr>
          <p:cNvPr id="247" name="Google Shape;247;p14"/>
          <p:cNvSpPr>
            <a:spLocks noGrp="1"/>
          </p:cNvSpPr>
          <p:nvPr/>
        </p:nvSpPr>
        <p:spPr>
          <a:xfrm>
            <a:off x="6379210" y="1184275"/>
            <a:ext cx="1524635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D437A"/>
                </a:solidFill>
              </a:rPr>
              <a:t>? Best pooled model: LSTM, MAE = 3.271.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D437A"/>
                </a:solidFill>
              </a:rPr>
              <a:t>? XGBoost is strongest at the 1-hour horizon.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D437A"/>
                </a:solidFill>
              </a:rPr>
              <a:t>? Gated hybrid MAE = 3.708 vs TimeMixer MAE = 4.078.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D437A"/>
                </a:solidFill>
              </a:rPr>
              <a:t>? Hybrid wins 0/25 comparisons against the strongest comparator.</a:t>
            </a:r>
          </a:p>
        </p:txBody>
      </p:sp>
      <p:sp>
        <p:nvSpPr>
          <p:cNvPr id="248" name="Google Shape;248;p14"/>
          <p:cNvSpPr>
            <a:spLocks noGrp="1"/>
          </p:cNvSpPr>
          <p:nvPr/>
        </p:nvSpPr>
        <p:spPr>
          <a:xfrm>
            <a:off x="2687320" y="1522730"/>
            <a:ext cx="9255125" cy="10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Interpretation</a:t>
            </a:r>
          </a:p>
        </p:txBody>
      </p:sp>
      <p:sp>
        <p:nvSpPr>
          <p:cNvPr id="249" name="Google Shape;249;p14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hybrid improves TimeMixer but does not beat the strongest baseline overall.</a:t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58445" y="2604135"/>
            <a:ext cx="14060170" cy="5031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4" name="Google Shape;254;p15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8 - Hyper-parameter Tuning</a:t>
            </a:r>
          </a:p>
        </p:txBody>
      </p:sp>
      <p:sp>
        <p:nvSpPr>
          <p:cNvPr id="255" name="Google Shape;255;p15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Neural training setup</a:t>
            </a:r>
          </a:p>
        </p:txBody>
      </p:sp>
      <p:pic>
        <p:nvPicPr>
          <p:cNvPr id="264" name="Google Shape;256;p15"/>
          <p:cNvPicPr>
            <a:picLocks noChangeAspect="1"/>
          </p:cNvPicPr>
          <p:nvPr/>
        </p:nvPicPr>
        <p:blipFill rotWithShape="1">
          <a:blip r:embed="rId1"/>
          <a:srcRect t="795" b="795"/>
          <a:stretch>
            <a:fillRect/>
          </a:stretch>
        </p:blipFill>
        <p:spPr>
          <a:xfrm>
            <a:off x="330275" y="1399973"/>
            <a:ext cx="9749001" cy="3120600"/>
          </a:xfrm>
          <a:prstGeom prst="rect">
            <a:avLst/>
          </a:prstGeom>
          <a:ln>
            <a:noFill/>
          </a:ln>
        </p:spPr>
      </p:pic>
      <p:sp>
        <p:nvSpPr>
          <p:cNvPr id="258" name="Google Shape;258;p15"/>
          <p:cNvSpPr>
            <a:spLocks noGrp="1"/>
          </p:cNvSpPr>
          <p:nvPr/>
        </p:nvSpPr>
        <p:spPr>
          <a:xfrm>
            <a:off x="10873740" y="2816225"/>
            <a:ext cx="3209925" cy="24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Five seeds: 0, 1, 2, 3, 4.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Maximum 30 epochs.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Early stopping, AdamW, gradient clipping, and fixed train/validation/test protocol.</a:t>
            </a:r>
          </a:p>
        </p:txBody>
      </p:sp>
      <p:sp>
        <p:nvSpPr>
          <p:cNvPr id="259" name="Google Shape;259;p15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Residual tuning</a:t>
            </a: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74345" y="4403090"/>
            <a:ext cx="9279255" cy="3172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4" name="Google Shape;264;p16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9 - Final Pipeline</a:t>
            </a:r>
          </a:p>
        </p:txBody>
      </p:sp>
      <p:sp>
        <p:nvSpPr>
          <p:cNvPr id="265" name="Google Shape;265;p16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Pipeline stages</a:t>
            </a:r>
          </a:p>
        </p:txBody>
      </p:sp>
      <p:sp>
        <p:nvSpPr>
          <p:cNvPr id="268" name="Google Shape;268;p16"/>
          <p:cNvSpPr>
            <a:spLocks noGrp="1"/>
          </p:cNvSpPr>
          <p:nvPr/>
        </p:nvSpPr>
        <p:spPr>
          <a:xfrm>
            <a:off x="834390" y="2414270"/>
            <a:ext cx="2531110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Load station files and audit quality.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Clean PM2.5 values and preserve quality flags.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Build origin-safe windows and features.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 Train baselines, TimeMixer, and hybrid models.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 Evaluate locked test and sensitivity.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 Export figures, tables, paper, and app artifacts.</a:t>
            </a:r>
          </a:p>
        </p:txBody>
      </p:sp>
      <p:sp>
        <p:nvSpPr>
          <p:cNvPr id="269" name="Google Shape;269;p16"/>
          <p:cNvSpPr>
            <a:spLocks noGrp="1"/>
          </p:cNvSpPr>
          <p:nvPr/>
        </p:nvSpPr>
        <p:spPr>
          <a:xfrm>
            <a:off x="834390" y="2962910"/>
            <a:ext cx="2581910" cy="23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 folders: results/, figures/, diagnostics/, paper/, and app/.</a:t>
            </a:r>
          </a:p>
        </p:txBody>
      </p:sp>
      <p:sp>
        <p:nvSpPr>
          <p:cNvPr id="270" name="Google Shape;270;p16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5276215" y="1306830"/>
            <a:ext cx="8759825" cy="352234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5010785" y="4763135"/>
            <a:ext cx="8971915" cy="2872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17"/>
          <p:cNvSpPr>
            <a:spLocks noGrp="1"/>
          </p:cNvSpPr>
          <p:nvPr/>
        </p:nvSpPr>
        <p:spPr>
          <a:xfrm>
            <a:off x="594360" y="411480"/>
            <a:ext cx="13441680" cy="52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AI-Powered Application / Prototype</a:t>
            </a:r>
          </a:p>
        </p:txBody>
      </p:sp>
      <p:sp>
        <p:nvSpPr>
          <p:cNvPr id="276" name="Google Shape;276;p17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Prototype function</a:t>
            </a:r>
          </a:p>
        </p:txBody>
      </p:sp>
      <p:sp>
        <p:nvSpPr>
          <p:cNvPr id="278" name="Google Shape;278;p17"/>
          <p:cNvSpPr>
            <a:spLocks noGrp="1"/>
          </p:cNvSpPr>
          <p:nvPr/>
        </p:nvSpPr>
        <p:spPr>
          <a:xfrm>
            <a:off x="10411398" y="1927778"/>
            <a:ext cx="2186700" cy="7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app helps users inspect the completed research results instead of manually opening many CSV and figure files.</a:t>
            </a:r>
          </a:p>
        </p:txBody>
      </p:sp>
      <p:sp>
        <p:nvSpPr>
          <p:cNvPr id="279" name="Google Shape;279;p17"/>
          <p:cNvSpPr>
            <a:spLocks noGrp="1"/>
          </p:cNvSpPr>
          <p:nvPr/>
        </p:nvSpPr>
        <p:spPr>
          <a:xfrm>
            <a:off x="10411395" y="2602645"/>
            <a:ext cx="2637900" cy="374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 cap="none">
                <a:solidFill>
                  <a:srgbClr val="282D3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AI/data-science value</a:t>
            </a:r>
          </a:p>
        </p:txBody>
      </p:sp>
      <p:sp>
        <p:nvSpPr>
          <p:cNvPr id="280" name="Google Shape;280;p17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 connects data cleaning, model comparison, residual diagnostics, and generated visual evidence in one interface.</a:t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10970" y="1310640"/>
            <a:ext cx="7990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" name="Google Shape;285;p18"/>
          <p:cNvSpPr>
            <a:spLocks noGrp="1"/>
          </p:cNvSpPr>
          <p:nvPr/>
        </p:nvSpPr>
        <p:spPr>
          <a:xfrm>
            <a:off x="-4562" y="0"/>
            <a:ext cx="14630400" cy="8229600"/>
          </a:xfrm>
          <a:prstGeom prst="rect">
            <a:avLst/>
          </a:prstGeom>
          <a:solidFill>
            <a:srgbClr val="1D437A"/>
          </a:solidFill>
          <a:ln w="9525" cmpd="sng">
            <a:solidFill>
              <a:srgbClr val="1D437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Develop Applications and AI-Powered Solutions</a:t>
            </a:r>
          </a:p>
        </p:txBody>
      </p:sp>
      <p:sp>
        <p:nvSpPr>
          <p:cNvPr id="286" name="Google Shape;286;p18"/>
          <p:cNvSpPr>
            <a:spLocks noGrp="1"/>
          </p:cNvSpPr>
          <p:nvPr/>
        </p:nvSpPr>
        <p:spPr>
          <a:xfrm>
            <a:off x="0" y="2788920"/>
            <a:ext cx="14630400" cy="68580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How the solution could be extended</a:t>
            </a:r>
          </a:p>
        </p:txBody>
      </p:sp>
      <p:sp>
        <p:nvSpPr>
          <p:cNvPr id="287" name="Google Shape;287;p18"/>
          <p:cNvSpPr>
            <a:spLocks noGrp="1"/>
          </p:cNvSpPr>
          <p:nvPr/>
        </p:nvSpPr>
        <p:spPr>
          <a:xfrm>
            <a:off x="0" y="2916936"/>
            <a:ext cx="1463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Add automated data ingestion from monitoring APIs.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Add weather covariates for stronger forecasting.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Deploy the dashboard as a cloud web app.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Add model retraining and monitoring.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Add explainability reports for high-pollution events.</a:t>
            </a:r>
          </a:p>
        </p:txBody>
      </p:sp>
      <p:sp>
        <p:nvSpPr>
          <p:cNvPr id="288" name="Google Shape;288;p18"/>
          <p:cNvSpPr>
            <a:spLocks noGrp="1"/>
          </p:cNvSpPr>
          <p:nvPr/>
        </p:nvSpPr>
        <p:spPr>
          <a:xfrm>
            <a:off x="658368" y="3657600"/>
            <a:ext cx="13304520" cy="1554480"/>
          </a:xfrm>
          <a:prstGeom prst="rect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Responsible use</a:t>
            </a:r>
          </a:p>
        </p:txBody>
      </p:sp>
      <p:sp>
        <p:nvSpPr>
          <p:cNvPr id="289" name="Google Shape;289;p18"/>
          <p:cNvSpPr>
            <a:spLocks noGrp="1"/>
          </p:cNvSpPr>
          <p:nvPr/>
        </p:nvSpPr>
        <p:spPr>
          <a:xfrm>
            <a:off x="658368" y="4069080"/>
            <a:ext cx="13304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Predictions should support analysis, not replace official air-quality information.</a:t>
            </a:r>
          </a:p>
        </p:txBody>
      </p:sp>
      <p:sp>
        <p:nvSpPr>
          <p:cNvPr id="290" name="Google Shape;290;p18"/>
          <p:cNvSpPr>
            <a:spLocks noGrp="1"/>
          </p:cNvSpPr>
          <p:nvPr/>
        </p:nvSpPr>
        <p:spPr>
          <a:xfrm>
            <a:off x="3172903" y="5924705"/>
            <a:ext cx="3858900" cy="777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" name="Google Shape;291;p18"/>
          <p:cNvSpPr>
            <a:spLocks noGrp="1"/>
          </p:cNvSpPr>
          <p:nvPr/>
        </p:nvSpPr>
        <p:spPr>
          <a:xfrm>
            <a:off x="3218622" y="6080153"/>
            <a:ext cx="37674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  <p:sp>
        <p:nvSpPr>
          <p:cNvPr id="292" name="Google Shape;292;p18"/>
          <p:cNvSpPr>
            <a:spLocks noGrp="1"/>
          </p:cNvSpPr>
          <p:nvPr/>
        </p:nvSpPr>
        <p:spPr>
          <a:xfrm>
            <a:off x="7598599" y="5924705"/>
            <a:ext cx="3858900" cy="777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8"/>
          <p:cNvSpPr>
            <a:spLocks noGrp="1"/>
          </p:cNvSpPr>
          <p:nvPr/>
        </p:nvSpPr>
        <p:spPr>
          <a:xfrm>
            <a:off x="7644318" y="6080153"/>
            <a:ext cx="37674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8" name="Google Shape;298;p19"/>
          <p:cNvSpPr>
            <a:spLocks noGrp="1"/>
          </p:cNvSpPr>
          <p:nvPr/>
        </p:nvSpPr>
        <p:spPr>
          <a:xfrm>
            <a:off x="594360" y="411480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1D437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 10 - Conclusion</a:t>
            </a:r>
          </a:p>
        </p:txBody>
      </p:sp>
      <p:sp>
        <p:nvSpPr>
          <p:cNvPr id="299" name="Google Shape;299;p19"/>
          <p:cNvSpPr>
            <a:spLocks noGrp="1"/>
          </p:cNvSpPr>
          <p:nvPr/>
        </p:nvSpPr>
        <p:spPr>
          <a:xfrm>
            <a:off x="594360" y="1152144"/>
            <a:ext cx="13441680" cy="32004"/>
          </a:xfrm>
          <a:prstGeom prst="rect">
            <a:avLst/>
          </a:prstGeom>
          <a:solidFill>
            <a:srgbClr val="2C74D6"/>
          </a:solidFill>
          <a:ln w="9525" cmpd="sng">
            <a:solidFill>
              <a:srgbClr val="2C74D6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Key findings</a:t>
            </a:r>
          </a:p>
        </p:txBody>
      </p:sp>
      <p:graphicFrame>
        <p:nvGraphicFramePr>
          <p:cNvPr id="305" name="Google Shape;300;p19"/>
          <p:cNvGraphicFramePr/>
          <p:nvPr/>
        </p:nvGraphicFramePr>
        <p:xfrm>
          <a:off x="594360" y="1645920"/>
          <a:ext cx="13441675" cy="4709100"/>
        </p:xfrm>
        <a:graphic>
          <a:graphicData uri="http://schemas.openxmlformats.org/drawingml/2006/table">
            <a:tbl>
              <a:tblPr firstRow="1" bandRow="1">
                <a:tableStyleId>{9D78EC70-7C05-40B9-8F56-B04737247E30}</a:tableStyleId>
              </a:tblPr>
              <a:tblGrid>
                <a:gridCol w="914400"/>
                <a:gridCol w="12527275"/>
              </a:tblGrid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#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Finding</a:t>
                      </a:r>
                      <a:endParaRPr sz="1600" b="1" u="non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1D437A"/>
                    </a:solidFill>
                  </a:tcPr>
                </a:tc>
              </a:tr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Five stations, five seeds and 30 epochs provide a broader benchmark.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The gated residual improves TimeMixer at all pooled horizons.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Hybrid wins 0/25 comparisons against the strongest matched baseline.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LSTM is the best pooled model with MAE 3.271.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F8FBFF"/>
                    </a:solidFill>
                  </a:tcPr>
                </a:tc>
              </a:tr>
              <a:tr h="784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u="none" cap="none">
                          <a:solidFill>
                            <a:srgbClr val="282D3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Common-history sensitivity and strongest-baseline inference remain open.</a:t>
                      </a:r>
                      <a:endParaRPr sz="1500" b="0" u="none" cap="none">
                        <a:solidFill>
                          <a:srgbClr val="282D34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45725" marR="45725" marT="27425" marB="27425"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19"/>
          <p:cNvSpPr>
            <a:spLocks noGrp="1"/>
          </p:cNvSpPr>
          <p:nvPr/>
        </p:nvSpPr>
        <p:spPr>
          <a:xfrm>
            <a:off x="1828800" y="76352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The project satisfies the multi-station requirement with five stations.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The benchmark includes more than five models.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The gated residual method improves TimeMixer but not the strongest comparator.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u="none" cap="none">
                <a:solidFill>
                  <a:srgbClr val="69788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? Common-history sensitivity does not reverse the conclusion.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6" name="Google Shape;306;p20"/>
          <p:cNvSpPr>
            <a:spLocks noGrp="1"/>
          </p:cNvSpPr>
          <p:nvPr/>
        </p:nvSpPr>
        <p:spPr>
          <a:xfrm>
            <a:off x="-4562" y="0"/>
            <a:ext cx="14630400" cy="8229600"/>
          </a:xfrm>
          <a:prstGeom prst="rect">
            <a:avLst/>
          </a:prstGeom>
          <a:solidFill>
            <a:srgbClr val="1D437A"/>
          </a:solidFill>
          <a:ln w="9525" cmpd="sng">
            <a:solidFill>
              <a:srgbClr val="1D437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</a:rPr>
              <a:t>AI Reflection and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7148</Words>
  <Application>WPS Presentation</Application>
  <PresentationFormat>Converted Presentation</PresentationFormat>
  <Paragraphs>355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tunga</cp:lastModifiedBy>
  <cp:revision>2</cp:revision>
  <dcterms:created xsi:type="dcterms:W3CDTF">2026-07-06T15:58:00Z</dcterms:created>
  <dcterms:modified xsi:type="dcterms:W3CDTF">2026-07-21T04:52:16Z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9F39449EC323469A85B5901805EC5160_12</vt:lpwstr>
  </property>
  <property fmtid="{D5CDD505-2E9C-101B-9397-08002B2CF9AE}" pid="3" name="KSOProductBuildVer">
    <vt:lpwstr>2057-12.2.0.23206</vt:lpwstr>
  </property>
</Properties>
</file>