
<file path=[Content_Types].xml><?xml version="1.0" encoding="utf-8"?>
<ns0:Types xmlns:ns0="http://schemas.openxmlformats.org/package/2006/content-types">
  <ns0:Default Extension="png" ContentType="image/png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0.xml" ContentType="application/vnd.openxmlformats-officedocument.presentationml.slide+xml"/>
  <ns0:Override PartName="/ppt/notesMasters/notesMaster1.xml" ContentType="application/vnd.openxmlformats-officedocument.presentationml.notesMaster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theme/theme2.xml" ContentType="application/vnd.openxmlformats-officedocument.theme+xml"/>
  <ns0:Override PartName="/ppt/notesSlides/notesSlide1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3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  <ns0:Override PartName="/ppt/notesSlides/notesSlide6.xml" ContentType="application/vnd.openxmlformats-officedocument.presentationml.notesSlide+xml"/>
  <ns0:Override PartName="/ppt/notesSlides/notesSlide7.xml" ContentType="application/vnd.openxmlformats-officedocument.presentationml.notesSlide+xml"/>
  <ns0:Override PartName="/ppt/notesSlides/notesSlide8.xml" ContentType="application/vnd.openxmlformats-officedocument.presentationml.notesSlide+xml"/>
  <ns0:Override PartName="/ppt/notesSlides/notesSlide9.xml" ContentType="application/vnd.openxmlformats-officedocument.presentationml.notesSlide+xml"/>
  <ns0:Override PartName="/ppt/changesInfos/changesInfo1.xml" ContentType="application/vnd.ms-powerpoint.changesinfo+xml"/>
  <ns0:Override PartName="/docProps/core.xml" ContentType="application/vnd.openxmlformats-package.core-properties+xml"/>
  <ns0:Override PartName="/docProps/app.xml" ContentType="application/vnd.openxmlformats-officedocument.extended-properties+xml"/>
</ns0: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howSpecialPlsOnTitleSld="0" saveSubsetFonts="1" autoCompressPictures="0">
  <p:sldMasterIdLst>
    <p:sldMasterId id="2147483650" r:id="rId1"/>
  </p:sldMasterIdLst>
  <p:notesMasterIdLst>
    <p:notesMasterId r:id="rId24"/>
  </p:notesMasterIdLst>
  <p:sldIdLst>
    <p:sldId id="295" r:id="rId2"/>
    <p:sldId id="257" r:id="rId3"/>
    <p:sldId id="258" r:id="rId4"/>
    <p:sldId id="259" r:id="rId5"/>
    <p:sldId id="282" r:id="rId6"/>
    <p:sldId id="280" r:id="rId7"/>
    <p:sldId id="260" r:id="rId8"/>
    <p:sldId id="294" r:id="rId9"/>
    <p:sldId id="286" r:id="rId10"/>
    <p:sldId id="261" r:id="rId11"/>
    <p:sldId id="262" r:id="rId12"/>
    <p:sldId id="287" r:id="rId13"/>
    <p:sldId id="288" r:id="rId14"/>
    <p:sldId id="289" r:id="rId15"/>
    <p:sldId id="290" r:id="rId16"/>
    <p:sldId id="291" r:id="rId17"/>
    <p:sldId id="292" r:id="rId18"/>
    <p:sldId id="296" r:id="rId19"/>
    <p:sldId id="297" r:id="rId20"/>
    <p:sldId id="298" r:id="rId21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4" autoAdjust="0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8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8" Type="http://schemas.openxmlformats.org/officeDocument/2006/relationships/slide" Target="slides/slide7.xml" /><ns0:Relationship Id="rId13" Type="http://schemas.openxmlformats.org/officeDocument/2006/relationships/slide" Target="slides/slide12.xml" /><ns0:Relationship Id="rId18" Type="http://schemas.openxmlformats.org/officeDocument/2006/relationships/slide" Target="slides/slide17.xml" /><ns0:Relationship Id="rId26" Type="http://schemas.openxmlformats.org/officeDocument/2006/relationships/viewProps" Target="viewProps.xml" /><ns0:Relationship Id="rId3" Type="http://schemas.openxmlformats.org/officeDocument/2006/relationships/slide" Target="slides/slide2.xml" /><ns0:Relationship Id="rId21" Type="http://schemas.openxmlformats.org/officeDocument/2006/relationships/slide" Target="slides/slide20.xml" /><ns0:Relationship Id="rId7" Type="http://schemas.openxmlformats.org/officeDocument/2006/relationships/slide" Target="slides/slide6.xml" /><ns0:Relationship Id="rId12" Type="http://schemas.openxmlformats.org/officeDocument/2006/relationships/slide" Target="slides/slide11.xml" /><ns0:Relationship Id="rId17" Type="http://schemas.openxmlformats.org/officeDocument/2006/relationships/slide" Target="slides/slide16.xml" /><ns0:Relationship Id="rId25" Type="http://schemas.openxmlformats.org/officeDocument/2006/relationships/presProps" Target="presProps.xml" /><ns0:Relationship Id="rId2" Type="http://schemas.openxmlformats.org/officeDocument/2006/relationships/slide" Target="slides/slide1.xml" /><ns0:Relationship Id="rId16" Type="http://schemas.openxmlformats.org/officeDocument/2006/relationships/slide" Target="slides/slide15.xml" /><ns0:Relationship Id="rId20" Type="http://schemas.openxmlformats.org/officeDocument/2006/relationships/slide" Target="slides/slide19.xml" /><ns0:Relationship Id="rId29" Type="http://schemas.microsoft.com/office/2016/11/relationships/changesInfo" Target="changesInfos/changesInfo1.xml" /><ns0:Relationship Id="rId1" Type="http://schemas.openxmlformats.org/officeDocument/2006/relationships/slideMaster" Target="slideMasters/slideMaster1.xml" /><ns0:Relationship Id="rId6" Type="http://schemas.openxmlformats.org/officeDocument/2006/relationships/slide" Target="slides/slide5.xml" /><ns0:Relationship Id="rId11" Type="http://schemas.openxmlformats.org/officeDocument/2006/relationships/slide" Target="slides/slide10.xml" /><ns0:Relationship Id="rId24" Type="http://schemas.openxmlformats.org/officeDocument/2006/relationships/notesMaster" Target="notesMasters/notesMaster1.xml" /><ns0:Relationship Id="rId5" Type="http://schemas.openxmlformats.org/officeDocument/2006/relationships/slide" Target="slides/slide4.xml" /><ns0:Relationship Id="rId15" Type="http://schemas.openxmlformats.org/officeDocument/2006/relationships/slide" Target="slides/slide14.xml" /><ns0:Relationship Id="rId28" Type="http://schemas.openxmlformats.org/officeDocument/2006/relationships/tableStyles" Target="tableStyles.xml" /><ns0:Relationship Id="rId10" Type="http://schemas.openxmlformats.org/officeDocument/2006/relationships/slide" Target="slides/slide9.xml" /><ns0:Relationship Id="rId19" Type="http://schemas.openxmlformats.org/officeDocument/2006/relationships/slide" Target="slides/slide18.xml" /><ns0:Relationship Id="rId4" Type="http://schemas.openxmlformats.org/officeDocument/2006/relationships/slide" Target="slides/slide3.xml" /><ns0:Relationship Id="rId9" Type="http://schemas.openxmlformats.org/officeDocument/2006/relationships/slide" Target="slides/slide8.xml" /><ns0:Relationship Id="rId14" Type="http://schemas.openxmlformats.org/officeDocument/2006/relationships/slide" Target="slides/slide13.xml" /><ns0:Relationship Id="rId27" Type="http://schemas.openxmlformats.org/officeDocument/2006/relationships/theme" Target="theme/theme1.xml" /></ns0: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 Nhat Tung" userId="77b0905b33e1f80d" providerId="LiveId" clId="{A4964FA4-2953-4C64-887E-A60447789925}"/>
    <pc:docChg chg="undo custSel delSld modSld">
      <pc:chgData name="Le Nhat Tung" userId="77b0905b33e1f80d" providerId="LiveId" clId="{A4964FA4-2953-4C64-887E-A60447789925}" dt="2026-06-01T06:13:37.095" v="77" actId="20577"/>
      <pc:docMkLst>
        <pc:docMk/>
      </pc:docMkLst>
      <pc:sldChg chg="modSp mod">
        <pc:chgData name="Le Nhat Tung" userId="77b0905b33e1f80d" providerId="LiveId" clId="{A4964FA4-2953-4C64-887E-A60447789925}" dt="2026-06-01T06:12:00.917" v="7" actId="20577"/>
        <pc:sldMkLst>
          <pc:docMk/>
          <pc:sldMk cId="0" sldId="257"/>
        </pc:sldMkLst>
        <pc:spChg chg="mod">
          <ac:chgData name="Le Nhat Tung" userId="77b0905b33e1f80d" providerId="LiveId" clId="{A4964FA4-2953-4C64-887E-A60447789925}" dt="2026-06-01T06:12:00.917" v="7" actId="20577"/>
          <ac:spMkLst>
            <pc:docMk/>
            <pc:sldMk cId="0" sldId="257"/>
            <ac:spMk id="4" creationId="{00000000-0000-0000-0000-000000000000}"/>
          </ac:spMkLst>
        </pc:spChg>
      </pc:sldChg>
      <pc:sldChg chg="del">
        <pc:chgData name="Le Nhat Tung" userId="77b0905b33e1f80d" providerId="LiveId" clId="{A4964FA4-2953-4C64-887E-A60447789925}" dt="2026-06-01T06:10:57.338" v="0" actId="47"/>
        <pc:sldMkLst>
          <pc:docMk/>
          <pc:sldMk cId="0" sldId="283"/>
        </pc:sldMkLst>
      </pc:sldChg>
      <pc:sldChg chg="del">
        <pc:chgData name="Le Nhat Tung" userId="77b0905b33e1f80d" providerId="LiveId" clId="{A4964FA4-2953-4C64-887E-A60447789925}" dt="2026-06-01T06:10:57.338" v="0" actId="47"/>
        <pc:sldMkLst>
          <pc:docMk/>
          <pc:sldMk cId="0" sldId="284"/>
        </pc:sldMkLst>
      </pc:sldChg>
      <pc:sldChg chg="del">
        <pc:chgData name="Le Nhat Tung" userId="77b0905b33e1f80d" providerId="LiveId" clId="{A4964FA4-2953-4C64-887E-A60447789925}" dt="2026-06-01T06:10:57.338" v="0" actId="47"/>
        <pc:sldMkLst>
          <pc:docMk/>
          <pc:sldMk cId="0" sldId="293"/>
        </pc:sldMkLst>
      </pc:sldChg>
      <pc:sldChg chg="addSp modSp mod">
        <pc:chgData name="Le Nhat Tung" userId="77b0905b33e1f80d" providerId="LiveId" clId="{A4964FA4-2953-4C64-887E-A60447789925}" dt="2026-06-01T06:12:59.854" v="40" actId="1076"/>
        <pc:sldMkLst>
          <pc:docMk/>
          <pc:sldMk cId="0" sldId="295"/>
        </pc:sldMkLst>
        <pc:spChg chg="mod">
          <ac:chgData name="Le Nhat Tung" userId="77b0905b33e1f80d" providerId="LiveId" clId="{A4964FA4-2953-4C64-887E-A60447789925}" dt="2026-06-01T06:12:13.552" v="27" actId="20577"/>
          <ac:spMkLst>
            <pc:docMk/>
            <pc:sldMk cId="0" sldId="295"/>
            <ac:spMk id="8" creationId="{00000000-0000-0000-0000-000000000000}"/>
          </ac:spMkLst>
        </pc:spChg>
        <pc:spChg chg="mod">
          <ac:chgData name="Le Nhat Tung" userId="77b0905b33e1f80d" providerId="LiveId" clId="{A4964FA4-2953-4C64-887E-A60447789925}" dt="2026-06-01T06:12:33.304" v="36" actId="20577"/>
          <ac:spMkLst>
            <pc:docMk/>
            <pc:sldMk cId="0" sldId="295"/>
            <ac:spMk id="10" creationId="{00000000-0000-0000-0000-000000000000}"/>
          </ac:spMkLst>
        </pc:spChg>
        <pc:picChg chg="add mod">
          <ac:chgData name="Le Nhat Tung" userId="77b0905b33e1f80d" providerId="LiveId" clId="{A4964FA4-2953-4C64-887E-A60447789925}" dt="2026-06-01T06:12:59.854" v="40" actId="1076"/>
          <ac:picMkLst>
            <pc:docMk/>
            <pc:sldMk cId="0" sldId="295"/>
            <ac:picMk id="2" creationId="{497A396E-23A9-7D61-08AA-DEFD09D56942}"/>
          </ac:picMkLst>
        </pc:picChg>
      </pc:sldChg>
      <pc:sldChg chg="modSp mod">
        <pc:chgData name="Le Nhat Tung" userId="77b0905b33e1f80d" providerId="LiveId" clId="{A4964FA4-2953-4C64-887E-A60447789925}" dt="2026-06-01T06:13:37.095" v="77" actId="20577"/>
        <pc:sldMkLst>
          <pc:docMk/>
          <pc:sldMk cId="0" sldId="300"/>
        </pc:sldMkLst>
        <pc:graphicFrameChg chg="modGraphic">
          <ac:chgData name="Le Nhat Tung" userId="77b0905b33e1f80d" providerId="LiveId" clId="{A4964FA4-2953-4C64-887E-A60447789925}" dt="2026-06-01T06:13:37.095" v="77" actId="20577"/>
          <ac:graphicFrameMkLst>
            <pc:docMk/>
            <pc:sldMk cId="0" sldId="300"/>
            <ac:graphicFrameMk id="4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0375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34BBB-3EB4-2080-5DC0-6DF31E7D2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939BEB-A4F2-980F-E24C-B08AB51F29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C00B6B-CA79-DA23-7D91-EFD834A35E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52B9F-AD27-E43F-4A95-6285EA8BD1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0872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83423-31C0-A7B1-D5F1-5D73359B3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D7ED6B-C6A7-A390-C64C-CB4EA35E33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BFFE50-FE87-82A2-C134-49F387DF3D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DB6AB-1281-BC7F-45D8-B95280BF71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9849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718AE611-130E-0D2E-E802-8A36716DB9FC}"/>
              </a:ext>
            </a:extLst>
          </p:cNvPr>
          <p:cNvSpPr txBox="1">
            <a:spLocks/>
          </p:cNvSpPr>
          <p:nvPr/>
        </p:nvSpPr>
        <p:spPr>
          <a:xfrm>
            <a:off x="1142999" y="2667001"/>
            <a:ext cx="6858000" cy="432050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28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1pPr>
            <a:lvl2pPr marL="457200" indent="0" algn="ctr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500" dirty="0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64CE541A-6BE9-11BD-EA23-8EFFEB671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008" y="584669"/>
            <a:ext cx="8177981" cy="1172951"/>
          </a:xfrm>
          <a:prstGeom prst="roundRect">
            <a:avLst/>
          </a:prstGeom>
          <a:solidFill>
            <a:schemeClr val="accent1"/>
          </a:solidFill>
          <a:effectLst>
            <a:outerShdw blurRad="152400" dist="177800" dir="2700000" algn="tl" rotWithShape="0">
              <a:prstClr val="black">
                <a:alpha val="28000"/>
              </a:prstClr>
            </a:outerShdw>
          </a:effectLst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4B9EEEA-4E55-EBA2-FD56-C7F246D4D4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0909" y="2156870"/>
            <a:ext cx="6022181" cy="666324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Your name here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B7712E16-869E-C669-4D08-61CB38A952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60908" y="3012689"/>
            <a:ext cx="6022181" cy="871725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pPr lvl="0"/>
            <a:r>
              <a:rPr lang="en-US" dirty="0"/>
              <a:t>Your Institution here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F3E5E026-FF93-380A-0369-EE921FD448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60908" y="4084776"/>
            <a:ext cx="6022181" cy="605434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081774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0105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4534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1909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011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9941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8929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7442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</p:sldLayoutIdLst>
  <p:hf sldNum="0"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bg1"/>
          </a:solidFill>
          <a:latin typeface="CMU Sans Serif Medium" panose="02000603000000000000" pitchFamily="2" charset="0"/>
          <a:ea typeface="CMU Sans Serif Medium" panose="02000603000000000000" pitchFamily="2" charset="0"/>
          <a:cs typeface="CMU Sans Serif Medium" panose="02000603000000000000" pitchFamily="2" charset="0"/>
        </a:defRPr>
      </a:lvl1pPr>
    </p:titleStyle>
    <p:bodyStyle>
      <a:lvl1pPr marL="171450" indent="-171450" algn="l" defTabSz="685800" rtl="0" eaLnBrk="1" latinLnBrk="0" hangingPunct="1">
        <a:lnSpc>
          <a:spcPct val="110000"/>
        </a:lnSpc>
        <a:spcBef>
          <a:spcPts val="750"/>
        </a:spcBef>
        <a:buClr>
          <a:schemeClr val="accent1"/>
        </a:buClr>
        <a:buSzPct val="120000"/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CMU Sans Serif Medium" panose="02000603000000000000" pitchFamily="2" charset="0"/>
          <a:ea typeface="CMU Sans Serif Medium" panose="02000603000000000000" pitchFamily="2" charset="0"/>
          <a:cs typeface="CMU Sans Serif Medium" panose="02000603000000000000" pitchFamily="2" charset="0"/>
        </a:defRPr>
      </a:lvl1pPr>
      <a:lvl2pPr marL="514350" indent="-171450" algn="just" defTabSz="685800" rtl="0" eaLnBrk="1" latinLnBrk="0" hangingPunct="1">
        <a:lnSpc>
          <a:spcPct val="110000"/>
        </a:lnSpc>
        <a:spcBef>
          <a:spcPts val="450"/>
        </a:spcBef>
        <a:buClr>
          <a:schemeClr val="accent1"/>
        </a:buClr>
        <a:buSzPct val="12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MU Sans Serif Medium" panose="02000603000000000000" pitchFamily="2" charset="0"/>
          <a:ea typeface="CMU Sans Serif Medium" panose="02000603000000000000" pitchFamily="2" charset="0"/>
          <a:cs typeface="CMU Sans Serif Medium" panose="02000603000000000000" pitchFamily="2" charset="0"/>
        </a:defRPr>
      </a:lvl2pPr>
      <a:lvl3pPr marL="857250" indent="-171450" algn="l" defTabSz="685800" rtl="0" eaLnBrk="1" latinLnBrk="0" hangingPunct="1">
        <a:lnSpc>
          <a:spcPct val="110000"/>
        </a:lnSpc>
        <a:spcBef>
          <a:spcPts val="375"/>
        </a:spcBef>
        <a:buClr>
          <a:schemeClr val="accent1"/>
        </a:buClr>
        <a:buSzPct val="120000"/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CMU Sans Serif Medium" panose="02000603000000000000" pitchFamily="2" charset="0"/>
          <a:ea typeface="CMU Sans Serif Medium" panose="02000603000000000000" pitchFamily="2" charset="0"/>
          <a:cs typeface="CMU Sans Serif Medium" panose="02000603000000000000" pitchFamily="2" charset="0"/>
        </a:defRPr>
      </a:lvl3pPr>
      <a:lvl4pPr marL="1200150" indent="-171450" algn="l" defTabSz="685800" rtl="0" eaLnBrk="1" latinLnBrk="0" hangingPunct="1">
        <a:lnSpc>
          <a:spcPct val="110000"/>
        </a:lnSpc>
        <a:spcBef>
          <a:spcPts val="375"/>
        </a:spcBef>
        <a:buClr>
          <a:schemeClr val="accent1"/>
        </a:buClr>
        <a:buSzPct val="120000"/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CMU Sans Serif Medium" panose="02000603000000000000" pitchFamily="2" charset="0"/>
          <a:ea typeface="CMU Sans Serif Medium" panose="02000603000000000000" pitchFamily="2" charset="0"/>
          <a:cs typeface="CMU Sans Serif Medium" panose="02000603000000000000" pitchFamily="2" charset="0"/>
        </a:defRPr>
      </a:lvl4pPr>
      <a:lvl5pPr marL="1543050" indent="-171450" algn="l" defTabSz="685800" rtl="0" eaLnBrk="1" latinLnBrk="0" hangingPunct="1">
        <a:lnSpc>
          <a:spcPct val="110000"/>
        </a:lnSpc>
        <a:spcBef>
          <a:spcPts val="375"/>
        </a:spcBef>
        <a:buClr>
          <a:schemeClr val="accent1"/>
        </a:buClr>
        <a:buSzPct val="120000"/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CMU Sans Serif Medium" panose="02000603000000000000" pitchFamily="2" charset="0"/>
          <a:ea typeface="CMU Sans Serif Medium" panose="02000603000000000000" pitchFamily="2" charset="0"/>
          <a:cs typeface="CMU Sans Serif Medium" panose="02000603000000000000" pitchFamily="2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ns2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TimeMixer-XGBoost PM2.5 Forecasting App</a:t>
            </a:r>
          </a:p>
        </p:txBody>
      </p:sp>
      <p:sp>
        <p:nvSpPr>
          <p:cNvPr id="10" name="Sub"/>
          <p:cNvSpPr>
            <a:spLocks noGrp="1"/>
          </p:cNvSpPr>
          <p:nvPr>
            <p:ph type="body" sz="quarter" idx="14"/>
          </p:nvPr>
        </p:nvSpPr>
        <p:spPr>
          <a:xfrm>
            <a:off x="483009" y="1850000"/>
            <a:ext cx="8118067" cy="1550000"/>
          </a:xfrm>
        </p:spPr>
        <p:txBody>
          <a:bodyPr>
            <a:noAutofit/>
          </a:bodyPr>
          <a:lstStyle/>
          <a:p>
            <a:r>
              <a:rPr lang="en-US" sz="2800" dirty="0" err="1"/>
              <a:t>DAP391m Project</a:t>
            </a:r>
          </a:p>
          <a:p>
            <a:r>
              <a:rPr lang="en-US" sz="2800" dirty="0" err="1"/>
              <a:t>Artificial Intelligence &amp; Data Science Project</a:t>
            </a:r>
          </a:p>
          <a:p>
            <a:r>
              <a:rPr lang="en-US" sz="2800" dirty="0" err="1"/>
              <a:t>FPT University | Ho Chi Minh City</a:t>
            </a:r>
          </a:p>
        </p:txBody>
      </p:sp>
      <p:sp>
        <p:nvSpPr>
          <p:cNvPr id="12" name="Info"/>
          <p:cNvSpPr>
            <a:spLocks noGrp="1"/>
          </p:cNvSpPr>
          <p:nvPr>
            <p:ph type="body" sz="quarter" idx="13"/>
          </p:nvPr>
        </p:nvSpPr>
        <p:spPr>
          <a:xfrm>
            <a:off x="1200000" y="4100000"/>
            <a:ext cx="6700000" cy="600000"/>
          </a:xfrm>
        </p:spPr>
        <p:txBody>
          <a:bodyPr/>
          <a:lstStyle/>
          <a:p>
            <a:r>
              <a:rPr lang="en-US" sz="1300" dirty="0"/>
              <a:t>Students: Dong Bao Han - Tran Loi Kieu Nhi - Pham Hoang Tu Ngan</a:t>
            </a:r>
          </a:p>
          <a:p>
            <a:r>
              <a:rPr lang="en-US" sz="1300" dirty="0"/>
              <a:t>Supervisor/Mentor: Le Vo Minh Thu</a:t>
            </a:r>
          </a:p>
        </p:txBody>
      </p:sp>
      <p:pic>
        <p:nvPicPr>
          <p:cNvPr id="2" name="Picture 1" descr="Tập tin:Logo Trường Đại học FPT.svg – Wikipedia tiếng Việt">
            <a:extLst>
              <a:ext uri="{FF2B5EF4-FFF2-40B4-BE49-F238E27FC236}">
                <ns2:creationId id="{497A396E-23A9-7D61-08AA-DEFD09D56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40" y="117275"/>
            <a:ext cx="961960" cy="3750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 name="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- Presentation Structure</a:t>
            </a:r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r>
              <a:t>PART 1 - Problem &amp; Data Understanding</a:t>
            </a:r>
          </a:p>
          <a:p>
            <a:r>
              <a:t>Slide 3: Problem Understanding</a:t>
            </a:r>
          </a:p>
          <a:p>
            <a:r>
              <a:t>Slide 4: Research Questions</a:t>
            </a:r>
          </a:p>
          <a:p>
            <a:r>
              <a:t>Slide 5: Data Understanding</a:t>
            </a:r>
          </a:p>
          <a:p>
            <a:r>
              <a:t>Slide 6-8: EDA and SQL-linked analysis</a:t>
            </a:r>
          </a:p>
          <a:p>
            <a:r>
              <a:t/>
            </a:r>
          </a:p>
          <a:p>
            <a:r>
              <a:t>PART 2 - Feature Engineering &amp; Visualization</a:t>
            </a:r>
          </a:p>
          <a:p>
            <a:r>
              <a:t>Slide 9: Feature Engineering</a:t>
            </a:r>
          </a:p>
          <a:p>
            <a:r>
              <a:t>Slide 10: Advanced Data Visualization</a:t>
            </a:r>
          </a:p>
          <a:p>
            <a:r>
              <a:t>Slide 11: Interactive Dashboard</a:t>
            </a:r>
          </a:p>
          <a:p>
            <a:r>
              <a:t/>
            </a:r>
          </a:p>
          <a:p>
            <a:r>
              <a:t>PART 3 - Modelling, Evaluation &amp; Pipeline</a:t>
            </a:r>
          </a:p>
          <a:p>
            <a:r>
              <a:t>Slide 12: Dataset Partition</a:t>
            </a:r>
          </a:p>
          <a:p>
            <a:r>
              <a:t>Slide 13: Data Modelling</a:t>
            </a:r>
          </a:p>
          <a:p>
            <a:r>
              <a:t>Slide 14: Model Evaluation</a:t>
            </a:r>
          </a:p>
          <a:p>
            <a:r>
              <a:t>Slide 15: Hyper-parameter Tuning</a:t>
            </a:r>
          </a:p>
          <a:p>
            <a:r>
              <a:t>Slide 16: Final Pipeline</a:t>
            </a:r>
          </a:p>
          <a:p>
            <a:r>
              <a:t/>
            </a:r>
          </a:p>
          <a:p>
            <a:r>
              <a:t>PART 4 - AI Application &amp; Reflection</a:t>
            </a:r>
          </a:p>
          <a:p>
            <a:r>
              <a:t>Slide 17-18: Prototype and AI-powered solution</a:t>
            </a:r>
          </a:p>
          <a:p>
            <a:r>
              <a:t>Slide 19-20: Conclusion, Reflection, and Q&amp;A</a:t>
            </a:r>
          </a:p>
        </p:txBody>
      </p:sp>
      <p:sp>
        <p:nvSpPr>
          <p:cNvPr id="4" name="Body"/>
          <p:cNvSpPr/>
          <p:nvPr/>
        </p:nvSpPr>
        <p:spPr>
          <a:xfrm>
            <a:off x="457200" y="105156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vi-VN" sz="15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 name="P1D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6B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r>
              <a:t>Step 1 - Problem Understanding</a:t>
            </a:r>
          </a:p>
        </p:txBody>
      </p:sp>
      <p:sp>
        <p:nvSpPr>
          <p:cNvPr id="3" name="B3"/>
          <p:cNvSpPr/>
          <p:nvPr/>
        </p:nvSpPr>
        <p:spPr>
          <a:xfrm>
            <a:off x="0" y="1200000"/>
            <a:ext cx="9144000" cy="5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hourly PM2.5 concentration is noisy, station-dependent, and difficult to forecast across multiple future horizons.</a:t>
            </a:r>
          </a:p>
        </p:txBody>
      </p:sp>
      <p:sp>
        <p:nvSpPr>
          <p:cNvPr id="4" name="B4"/>
          <p:cNvSpPr/>
          <p:nvPr/>
        </p:nvSpPr>
        <p:spPr>
          <a:xfrm>
            <a:off x="400000" y="1780000"/>
            <a:ext cx="8344000" cy="9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goal: build and evaluate a PM2.5 forecasting system for 1, 6, 12, 24, and 48 hours ahead.</a:t>
            </a:r>
          </a:p>
        </p:txBody>
      </p:sp>
      <p:sp>
        <p:nvSpPr>
          <p:cNvPr id="10" name="B10"/>
          <p:cNvSpPr/>
          <p:nvPr/>
        </p:nvSpPr>
        <p:spPr>
          <a:xfrm>
            <a:off x="322000" y="2900000"/>
            <a:ext cx="1700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forecasting PM2.5 supports air-quality analysis and early interpretation of pollution changes.</a:t>
            </a:r>
          </a:p>
        </p:txBody>
      </p:sp>
      <p:sp>
        <p:nvSpPr>
          <p:cNvPr id="11" name="B11"/>
          <p:cNvSpPr/>
          <p:nvPr/>
        </p:nvSpPr>
        <p:spPr>
          <a:xfrm>
            <a:off x="2062000" y="2900000"/>
            <a:ext cx="1700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AI question: can a gated TimeMixer-XGBoost residual layer safely improve TimeMixer forecasts across several stationsNote:</a:t>
            </a:r>
          </a:p>
        </p:txBody>
      </p:sp>
      <p:sp>
        <p:nvSpPr>
          <p:cNvPr id="12" name="B12"/>
          <p:cNvSpPr/>
          <p:nvPr/>
        </p:nvSpPr>
        <p:spPr>
          <a:xfrm>
            <a:off x="3802000" y="2900000"/>
            <a:ext cx="1700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</a:p>
        </p:txBody>
      </p:sp>
      <p:sp>
        <p:nvSpPr>
          <p:cNvPr id="13" name="B13"/>
          <p:cNvSpPr/>
          <p:nvPr/>
        </p:nvSpPr>
        <p:spPr>
          <a:xfrm>
            <a:off x="5542000" y="2900000"/>
            <a:ext cx="1700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</a:p>
        </p:txBody>
      </p:sp>
      <p:sp>
        <p:nvSpPr>
          <p:cNvPr id="14" name="B14"/>
          <p:cNvSpPr/>
          <p:nvPr/>
        </p:nvSpPr>
        <p:spPr>
          <a:xfrm>
            <a:off x="7282000" y="2900000"/>
            <a:ext cx="1700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 name="R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 (RQ1, RQ2, RQ3)</a:t>
            </a:r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r>
              <a:t>[RQ1] Which model forecasts hourly PM2.5 most accurately across horizons and stationsNote:</a:t>
            </a:r>
          </a:p>
          <a:p>
            <a:r>
              <a:t>Target: PM2.5 concentration. Task type: time-series regression.</a:t>
            </a:r>
          </a:p>
          <a:p>
            <a:r>
              <a:t/>
            </a:r>
          </a:p>
          <a:p>
            <a:r>
              <a:t>[RQ2] Does the gated TimeMixer-XGBoost residual layer improve the TimeMixer base modelNote:</a:t>
            </a:r>
          </a:p>
          <a:p>
            <a:r>
              <a:t>Comparison: TimeMixer vs static hybrid vs gated hybrid.</a:t>
            </a:r>
          </a:p>
          <a:p>
            <a:r>
              <a:t/>
            </a:r>
          </a:p>
          <a:p>
            <a:r>
              <a:t>[RQ3] Are conclusions stable when all stations use the same 2021-2025 historyNote:</a:t>
            </a:r>
          </a:p>
          <a:p>
            <a:r>
              <a:t>Purpose: address reviewer concern about unequal historical coverage.</a:t>
            </a:r>
          </a:p>
        </p:txBody>
      </p:sp>
      <p:sp>
        <p:nvSpPr>
          <p:cNvPr id="4" name="Body"/>
          <p:cNvSpPr/>
          <p:nvPr/>
        </p:nvSpPr>
        <p:spPr>
          <a:xfrm>
            <a:off x="457200" y="105156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vi-VN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p="http://schemas.openxmlformats.org/presentationml/2006/main">
  <p:cSld name="Ste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2 - Data Understanding</a:t>
            </a:r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r>
              <a:t>Dataset: UK-Air hourly PM2.5 time-series records from five monitoring stations.</a:t>
            </a:r>
          </a:p>
        </p:txBody>
      </p:sp>
      <p:graphicFrame>
        <p:nvGraphicFramePr>
          <p:cNvPr id="4" name="T107"/>
          <p:cNvGraphicFramePr>
            <a:graphicFrameLocks noGrp="1"/>
          </p:cNvGraphicFramePr>
          <p:nvPr/>
        </p:nvGraphicFramePr>
        <p:xfrm>
          <a:off x="457200" y="1097280"/>
          <a:ext cx="8229600" cy="1882140"/>
        </p:xfrm>
        <a:graphic>
          <a:graphicData uri="http://schemas.openxmlformats.org/drawingml/2006/table">
            <a:tbl>
              <a:tblPr/>
              <a:tblGrid>
                <a:gridCol w="3000000">
                  <a:extLst>
                    <a:ext uri="{9D8B030D-6E8A-4147-A177-3AD203B41FA5}">
                      <ns2:colId val="20000"/>
                    </a:ext>
                  </a:extLst>
                </a:gridCol>
                <a:gridCol w="5229600">
                  <a:extLst>
                    <a:ext uri="{9D8B030D-6E8A-4147-A177-3AD203B41FA5}">
                      <ns2:colId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question (EN)</a:t>
                      </a:r>
                      <a:endParaRPr lang="en-US" sz="12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Hướng dẫn thực hiện (VN)</a:t>
                      </a:r>
                      <a:endParaRPr lang="en-US" sz="12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ns2:rowId val="9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Note: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Xác định các biến đầu vào (features): loại dữ liệu số, categorical, text, thời gian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ns2:rowId val="9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Note: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Xác định biến mục tiêu (target/label): là gìPhân phối ra saoCó mất cân bằng khôngNote: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ns2:rowId val="9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 or RegressionNote: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Classification: target rời rạc (0/1, nhãn). Regression: target liên tục (giá, doanh thu)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ns2:rowId val="91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context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Hiểu domain: logistic, fintech, fashion... Tại sao bài toán này quan trọngNote: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ns2:rowId val="9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success metrics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Định nghĩa thành công: Accuracy/F1 (classification) hay RMSE/R2 (regression)Note: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ns2:rowId val="9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RBL: Justify + AI Audit Log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Trích dẫn paper để justify bài toán. Log prompt brainstorm problem statement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ns2:rowId val="91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p="http://schemas.openxmlformats.org/presentationml/2006/main">
  <p:cSld name="Step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3 - EDA (Univariate)</a:t>
            </a:r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r>
              <a:t>Univariate checks focus on one variable at a time: PM2.5 value, timestamp, missingness, and coverage.</a:t>
            </a:r>
          </a:p>
        </p:txBody>
      </p:sp>
      <p:graphicFrame>
        <p:nvGraphicFramePr>
          <p:cNvPr id="4" name="T207"/>
          <p:cNvGraphicFramePr>
            <a:graphicFrameLocks noGrp="1"/>
          </p:cNvGraphicFramePr>
          <p:nvPr/>
        </p:nvGraphicFramePr>
        <p:xfrm>
          <a:off x="457200" y="1097280"/>
          <a:ext cx="8229600" cy="1882140"/>
        </p:xfrm>
        <a:graphic>
          <a:graphicData uri="http://schemas.openxmlformats.org/drawingml/2006/table">
            <a:tbl>
              <a:tblPr/>
              <a:tblGrid>
                <a:gridCol w="3000000">
                  <a:extLst>
                    <a:ext uri="{9D8B030D-6E8A-4147-A177-3AD203B41FA5}">
                      <ns2:colId val="20000"/>
                    </a:ext>
                  </a:extLst>
                </a:gridCol>
                <a:gridCol w="5229600">
                  <a:extLst>
                    <a:ext uri="{9D8B030D-6E8A-4147-A177-3AD203B41FA5}">
                      <ns2:colId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issue (EN)</a:t>
                      </a:r>
                      <a:endParaRPr lang="en-US" sz="12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Cách xử lý &amp; Hướng dẫn (VN)</a:t>
                      </a:r>
                      <a:endParaRPr lang="en-US" sz="12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ns2:rowId val="9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Values Note: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Kiểm tra: df.isnull().sum(). Tỷ lệ null, pattern missing. Quyết định drop/fill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ns2:rowId val="9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Outlier / Noise Note: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IQR boxplot, Z-score, scatter plot. Quyết định: giữ, cap, hay loại bỏ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ns2:rowId val="9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Inconsistent Note: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Kiểm tra duplicate, typo, sai định dạng ngày/tháng, đơn vị không nhất quán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ns2:rowId val="9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Imbalanced Note: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value_counts() target. Tỷ lệ class không đều → cần SMOTE / undersampling ở Step 5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ns2:rowId val="9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Skewness Note: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Kiểm tra skewness: df.skew(). Biến lệch phải → log transform ở Step 4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ns2:rowId val="9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Audit Log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prompt EDA, data profiling. Mô tả dataset: số dòng × cột, nguồn, định dạng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ns2:rowId val="92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p="http://schemas.openxmlformats.org/presentationml/2006/main">
  <p:cSld name="Step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3 - EDA (Bivariate &amp; Multivariate)</a:t>
            </a:r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r>
              <a:t>Bivariate analysis links PM2.5 to time features such as hour, day, month, station, and horizon.</a:t>
            </a:r>
          </a:p>
        </p:txBody>
      </p:sp>
      <p:graphicFrame>
        <p:nvGraphicFramePr>
          <p:cNvPr id="4" name="T307"/>
          <p:cNvGraphicFramePr>
            <a:graphicFrameLocks noGrp="1"/>
          </p:cNvGraphicFramePr>
          <p:nvPr/>
        </p:nvGraphicFramePr>
        <p:xfrm>
          <a:off x="457200" y="1097280"/>
          <a:ext cx="8229600" cy="1882140"/>
        </p:xfrm>
        <a:graphic>
          <a:graphicData uri="http://schemas.openxmlformats.org/drawingml/2006/table">
            <a:tbl>
              <a:tblPr/>
              <a:tblGrid>
                <a:gridCol w="3000000">
                  <a:extLst>
                    <a:ext uri="{9D8B030D-6E8A-4147-A177-3AD203B41FA5}">
                      <ns2:colId val="20000"/>
                    </a:ext>
                  </a:extLst>
                </a:gridCol>
                <a:gridCol w="5229600">
                  <a:extLst>
                    <a:ext uri="{9D8B030D-6E8A-4147-A177-3AD203B41FA5}">
                      <ns2:colId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 type (EN)</a:t>
                      </a:r>
                      <a:endParaRPr lang="en-US" sz="12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Kỹ thuật &amp; Mục đích (VN)</a:t>
                      </a:r>
                      <a:endParaRPr lang="en-US" sz="12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ns2:rowId val="9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Univariate Analysis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Histogram, KDE, boxplot cho từng biến. Phân phối, range, outlier từng feature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ns2:rowId val="9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BiVariate Analysis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Scatter plot, bar chart, heatmap 2 biến. Tương quan với target, phát hiện pattern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ns2:rowId val="93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MultiVariate Analysis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Pairplot, correlation matrix, heatmap đầy đủ. Mối quan hệ nhiều biến cùng lúc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ns2:rowId val="9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Geospatial (if applicable)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Choropleth map, Folium interactive map nếu dữ liệu có latitude/longitude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ns2:rowId val="9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Insight documentation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Mỗi biểu đồ: title, axis labels, insight 1-2 câu tiếng Anh — liên kết với RQ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ns2:rowId val="93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RBL + AI Audit Log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Chọn loại biểu đồ có lý do (RBL). Log prompt tạo chart, evidence-based insights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ns2:rowId val="93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 name="P2D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r>
              <a:t>SQL Queries Linked to Research Questions</a:t>
            </a:r>
          </a:p>
        </p:txBody>
      </p:sp>
      <p:sp>
        <p:nvSpPr>
          <p:cNvPr id="3" name="B3"/>
          <p:cNvSpPr/>
          <p:nvPr/>
        </p:nvSpPr>
        <p:spPr>
          <a:xfrm>
            <a:off x="0" y="1200000"/>
            <a:ext cx="9144000" cy="5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 query logic: GROUP BY model, station_id, horizon to compare MAE/RMSE/sMAPE.</a:t>
            </a:r>
          </a:p>
        </p:txBody>
      </p:sp>
      <p:sp>
        <p:nvSpPr>
          <p:cNvPr id="4" name="B4"/>
          <p:cNvSpPr/>
          <p:nvPr/>
        </p:nvSpPr>
        <p:spPr>
          <a:xfrm>
            <a:off x="400000" y="1780000"/>
            <a:ext cx="8344000" cy="9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 query logic: compare TimeMixer MAE, hybrid_static MAE, and gated_hybrid MAE.</a:t>
            </a:r>
          </a:p>
        </p:txBody>
      </p:sp>
      <p:sp>
        <p:nvSpPr>
          <p:cNvPr id="10" name="B10"/>
          <p:cNvSpPr/>
          <p:nvPr/>
        </p:nvSpPr>
        <p:spPr>
          <a:xfrm>
            <a:off x="322000" y="2900000"/>
            <a:ext cx="2833333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 query logic: compare available-history results with common_2021 results.</a:t>
            </a:r>
          </a:p>
        </p:txBody>
      </p:sp>
      <p:sp>
        <p:nvSpPr>
          <p:cNvPr id="11" name="B11"/>
          <p:cNvSpPr/>
          <p:nvPr/>
        </p:nvSpPr>
        <p:spPr>
          <a:xfrm>
            <a:off x="3195333" y="2900000"/>
            <a:ext cx="2833333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used: station_effectiveness.csv, multistation_summary.csv, multistation_residual_gate.csv, and history_sensitivity_comparison.csv.</a:t>
            </a:r>
          </a:p>
        </p:txBody>
      </p:sp>
      <p:sp>
        <p:nvSpPr>
          <p:cNvPr id="12" name="B12"/>
          <p:cNvSpPr/>
          <p:nvPr/>
        </p:nvSpPr>
        <p:spPr>
          <a:xfrm>
            <a:off x="6068666" y="2900000"/>
            <a:ext cx="2833333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ns2="http://schemas.microsoft.com/office/drawing/2014/main" xmlns:p="http://schemas.openxmlformats.org/presentationml/2006/main">
  <p:cSld name="Step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4 - Feature Engineering</a:t>
            </a:r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r>
              <a:t>Feature rule: every predictor must be known at forecast origin to avoid data leakage.</a:t>
            </a:r>
          </a:p>
        </p:txBody>
      </p:sp>
      <p:graphicFrame>
        <p:nvGraphicFramePr>
          <p:cNvPr id="4" name="T607"/>
          <p:cNvGraphicFramePr>
            <a:graphicFrameLocks noGrp="1"/>
          </p:cNvGraphicFramePr>
          <p:nvPr/>
        </p:nvGraphicFramePr>
        <p:xfrm>
          <a:off x="457200" y="1097280"/>
          <a:ext cx="8229600" cy="2202180"/>
        </p:xfrm>
        <a:graphic>
          <a:graphicData uri="http://schemas.openxmlformats.org/drawingml/2006/table">
            <a:tbl>
              <a:tblPr/>
              <a:tblGrid>
                <a:gridCol w="3000000">
                  <a:extLst>
                    <a:ext uri="{9D8B030D-6E8A-4147-A177-3AD203B41FA5}">
                      <ns2:colId val="20000"/>
                    </a:ext>
                  </a:extLst>
                </a:gridCol>
                <a:gridCol w="5229600">
                  <a:extLst>
                    <a:ext uri="{9D8B030D-6E8A-4147-A177-3AD203B41FA5}">
                      <ns2:colId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 (EN)</a:t>
                      </a:r>
                      <a:endParaRPr lang="en-US" sz="12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Hướng dẫn chi tiết (VN)</a:t>
                      </a:r>
                      <a:endParaRPr lang="en-US" sz="12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ns2:rowId val="9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Skewness / Missing / Outlier Handling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transform (skew), fillna/dropna (missing), cap/remove (outlier) — ghi lý do từng bước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ns2:rowId val="96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Enrichment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Tạo biến mới từ business domain: ratio, difference, aggregation theo nhóm, time lag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ns2:rowId val="96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Transformation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Polynomial features, binning (pd.cut), log/sqrt transform cho phân phối lệch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ns2:rowId val="9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Selection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Correlation filter (|r|&gt;0.9 drop), VIF (multicollinearity), SelectKBest, RFE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ns2:rowId val="9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Encoding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LabelEncoder (ordinal), OneHotEncoder (nominal), TargetEncoder (high cardinality)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ns2:rowId val="9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Scaling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Normalization: MinMaxScaler [0,1]. Standardization: StandardScaler (z-score). Khi nào dùngNote: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ns2:rowId val="96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ns2="http://schemas.microsoft.com/office/drawing/2014/main" xmlns:p="http://schemas.openxmlformats.org/presentationml/2006/main">
  <p:cSld name="VizAd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Visualization</a:t>
            </a:r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r>
              <a:t>Main figures generated by code:</a:t>
            </a:r>
          </a:p>
          <a:p>
            <a:r>
              <a:t>Data overview and quality figures.</a:t>
            </a:r>
          </a:p>
          <a:p>
            <a:r>
              <a:t>Multi-station model-effectiveness figure.</a:t>
            </a:r>
          </a:p>
          <a:p>
            <a:r>
              <a:t>Model-metric comparison by horizon.</a:t>
            </a:r>
          </a:p>
          <a:p>
            <a:r>
              <a:t>Residual ablation and seed-variability plots.</a:t>
            </a:r>
          </a:p>
          <a:p>
            <a:r>
              <a:t>Bootstrap uncertainty and sensitivity evidence.</a:t>
            </a:r>
          </a:p>
        </p:txBody>
      </p:sp>
      <p:graphicFrame>
        <p:nvGraphicFramePr>
          <p:cNvPr id="4" name="T707"/>
          <p:cNvGraphicFramePr>
            <a:graphicFrameLocks noGrp="1"/>
          </p:cNvGraphicFramePr>
          <p:nvPr/>
        </p:nvGraphicFramePr>
        <p:xfrm>
          <a:off x="457200" y="1097280"/>
          <a:ext cx="8229600" cy="2042160"/>
        </p:xfrm>
        <a:graphic>
          <a:graphicData uri="http://schemas.openxmlformats.org/drawingml/2006/table">
            <a:tbl>
              <a:tblPr/>
              <a:tblGrid>
                <a:gridCol w="3000000">
                  <a:extLst>
                    <a:ext uri="{9D8B030D-6E8A-4147-A177-3AD203B41FA5}">
                      <ns2:colId val="20000"/>
                    </a:ext>
                  </a:extLst>
                </a:gridCol>
                <a:gridCol w="5229600">
                  <a:extLst>
                    <a:ext uri="{9D8B030D-6E8A-4147-A177-3AD203B41FA5}">
                      <ns2:colId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 type (EN)</a:t>
                      </a:r>
                      <a:endParaRPr lang="en-US" sz="12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Khi nào dùng &amp; Yêu cầu (VN)</a:t>
                      </a:r>
                      <a:endParaRPr lang="en-US" sz="12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ns2:rowId val="9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Heatmap (correlation / density)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Tương quan biến / mật độ không gian. Cần color scale, nhãn trục, annotation giá trị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ns2:rowId val="9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 / Line chart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Xu hướng theo thời gian. Highlight đỉnh/đáy, ghi chú sự kiện, nhiều series cùng lúc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ns2:rowId val="9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Waffle / Treemap / Pie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Tỷ lệ phân bố — dùng label %, tránh khi quá nhiều thành phần (hơn 7 nhóm)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ns2:rowId val="97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Scatter / Pairplot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Tương quan 2 biến, phát hiện cụm. Cần hue theo nhóm, regression line, r-value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ns2:rowId val="9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 Cloud / Choropleth Map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Văn bản: Word Cloud. Không gian: Choropleth / Folium interactive map với color encoding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ns2:rowId val="97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RBL + AI Audit Log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Mỗi chart: title, axis labels, insight 1-2 câu bằng EN. Chọn loại chart có lý do (RBL)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ns2:rowId val="97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ns2="http://schemas.microsoft.com/office/drawing/2014/main" xmlns:p="http://schemas.openxmlformats.org/presentationml/2006/main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(Research App)</a:t>
            </a:r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r>
              <a:t>The project includes a Streamlit dashboard organized like the sample app structure.</a:t>
            </a:r>
          </a:p>
        </p:txBody>
      </p:sp>
      <p:graphicFrame>
        <p:nvGraphicFramePr>
          <p:cNvPr id="4" name="T807"/>
          <p:cNvGraphicFramePr>
            <a:graphicFrameLocks noGrp="1"/>
          </p:cNvGraphicFramePr>
          <p:nvPr/>
        </p:nvGraphicFramePr>
        <p:xfrm>
          <a:off x="457200" y="1097280"/>
          <a:ext cx="8229600" cy="1882140"/>
        </p:xfrm>
        <a:graphic>
          <a:graphicData uri="http://schemas.openxmlformats.org/drawingml/2006/table">
            <a:tbl>
              <a:tblPr/>
              <a:tblGrid>
                <a:gridCol w="3000000">
                  <a:extLst>
                    <a:ext uri="{9D8B030D-6E8A-4147-A177-3AD203B41FA5}">
                      <ns2:colId val="20000"/>
                    </a:ext>
                  </a:extLst>
                </a:gridCol>
                <a:gridCol w="5229600">
                  <a:extLst>
                    <a:ext uri="{9D8B030D-6E8A-4147-A177-3AD203B41FA5}">
                      <ns2:colId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 (EN)</a:t>
                      </a:r>
                      <a:endParaRPr lang="en-US" sz="12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Hướng dẫn chi tiết (VN)</a:t>
                      </a:r>
                      <a:endParaRPr lang="en-US" sz="12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ns2:rowId val="9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framework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Plotly Dash (ưu tiên), Power BI, Tableau, Looker Studio, hoặc RStudio Shiny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ns2:rowId val="9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Min. 3 interactive charts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biểu đồ khác nhau, mỗi biểu đồ liên kết một RQ cụ thể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ns2:rowId val="9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 / Dropdown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Người dùng lọc được theo thời gian, danh mục, khu vực — demo trực tiếp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ns2:rowId val="98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summary cards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Hiển thị chỉ số tổng hợp: total, rate, growth % — dễ đọc ngay khi mở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ns2:rowId val="9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Geospatial chart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Nếu có dữ liệu vị trí: thêm Choropleth map hoặc Folium interactive map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ns2:rowId val="9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RBL + AI Audit Log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Giải thích tại sao chọn công cụ này (RBL). Log prompt thiết kế dashboard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ns2:rowId val="98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 name="P3D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r>
              <a:t>Step 5 - Dataset Partition</a:t>
            </a:r>
          </a:p>
        </p:txBody>
      </p:sp>
      <p:sp>
        <p:nvSpPr>
          <p:cNvPr id="3" name="B3"/>
          <p:cNvSpPr/>
          <p:nvPr/>
        </p:nvSpPr>
        <p:spPr>
          <a:xfrm>
            <a:off x="0" y="1200000"/>
            <a:ext cx="9144000" cy="5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partitioning prevents future leakage.</a:t>
            </a:r>
          </a:p>
        </p:txBody>
      </p:sp>
      <p:sp>
        <p:nvSpPr>
          <p:cNvPr id="4" name="B4"/>
          <p:cNvSpPr/>
          <p:nvPr/>
        </p:nvSpPr>
        <p:spPr>
          <a:xfrm>
            <a:off x="400000" y="1780000"/>
            <a:ext cx="8344000" cy="9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period: model fitting before the validation/calibration/test eras.</a:t>
            </a:r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period: early stopping and neural model selection.</a:t>
            </a:r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period: residual gate and alpha selection.</a:t>
            </a:r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test period: final evaluation from 2024 onward.</a:t>
            </a:r>
          </a:p>
        </p:txBody>
      </p:sp>
      <p:sp>
        <p:nvSpPr>
          <p:cNvPr id="10" name="B10"/>
          <p:cNvSpPr/>
          <p:nvPr/>
        </p:nvSpPr>
        <p:spPr>
          <a:xfrm>
            <a:off x="322000" y="2900000"/>
            <a:ext cx="1700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design: common 2021-2025 history is used for all stations to test whether unequal station history changes the conclusion.</a:t>
            </a:r>
          </a:p>
        </p:txBody>
      </p:sp>
      <p:sp>
        <p:nvSpPr>
          <p:cNvPr id="11" name="B11"/>
          <p:cNvSpPr/>
          <p:nvPr/>
        </p:nvSpPr>
        <p:spPr>
          <a:xfrm>
            <a:off x="2062000" y="2900000"/>
            <a:ext cx="1700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</a:p>
        </p:txBody>
      </p:sp>
      <p:sp>
        <p:nvSpPr>
          <p:cNvPr id="12" name="B12"/>
          <p:cNvSpPr/>
          <p:nvPr/>
        </p:nvSpPr>
        <p:spPr>
          <a:xfrm>
            <a:off x="3802000" y="2900000"/>
            <a:ext cx="1700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</a:p>
        </p:txBody>
      </p:sp>
      <p:sp>
        <p:nvSpPr>
          <p:cNvPr id="13" name="B13"/>
          <p:cNvSpPr/>
          <p:nvPr/>
        </p:nvSpPr>
        <p:spPr>
          <a:xfrm>
            <a:off x="5542000" y="2900000"/>
            <a:ext cx="1700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</a:p>
        </p:txBody>
      </p:sp>
      <p:sp>
        <p:nvSpPr>
          <p:cNvPr id="14" name="B14"/>
          <p:cNvSpPr/>
          <p:nvPr/>
        </p:nvSpPr>
        <p:spPr>
          <a:xfrm>
            <a:off x="7282000" y="2900000"/>
            <a:ext cx="1700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 name="Step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6 - Data Modelling</a:t>
            </a:r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r>
              <a:t>Models compared: persistence, seasonal-naive, XGBoost, LSTM, DLinear, TimeMixer, static hybrid, and gated hybrid.</a:t>
            </a:r>
          </a:p>
        </p:txBody>
      </p:sp>
      <p:sp>
        <p:nvSpPr>
          <p:cNvPr id="10" name="B10"/>
          <p:cNvSpPr/>
          <p:nvPr/>
        </p:nvSpPr>
        <p:spPr>
          <a:xfrm>
            <a:off x="457200" y="1050000"/>
            <a:ext cx="3950000" cy="380000"/>
          </a:xfrm>
          <a:prstGeom prst="rect">
            <a:avLst/>
          </a:prstGeom>
          <a:solidFill>
            <a:srgbClr val="1A2E6B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model: TimeMixer generates base forecasts; XGBoost learns residual errors; the gate controls whether residual correction is used.</a:t>
            </a:r>
          </a:p>
        </p:txBody>
      </p:sp>
      <p:sp>
        <p:nvSpPr>
          <p:cNvPr id="11" name="B11"/>
          <p:cNvSpPr/>
          <p:nvPr/>
        </p:nvSpPr>
        <p:spPr>
          <a:xfrm>
            <a:off x="457200" y="1440000"/>
            <a:ext cx="3950000" cy="321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t"/>
          <a:lstStyle/>
          <a:p>
            <a:pPr marL="228600" indent="-228600">
              <a:spcAft>
                <a:spcPts val="250"/>
              </a:spcAft>
              <a:buChar char="•"/>
            </a:pPr>
            <a:r>
              <a:rPr lang="vi-VN" sz="105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safeguards: median de-biasing, pseudo-Huber robust loss, bounded correction, calibration-selected alpha, and rolling bias calibration.</a:t>
            </a:r>
          </a:p>
        </p:txBody>
      </p:sp>
      <p:sp>
        <p:nvSpPr>
          <p:cNvPr id="30" name="B30"/>
          <p:cNvSpPr/>
          <p:nvPr/>
        </p:nvSpPr>
        <p:spPr>
          <a:xfrm>
            <a:off x="4650000" y="1050000"/>
            <a:ext cx="4036800" cy="38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satisfies the requirement to compare at least five modelling approaches.</a:t>
            </a:r>
          </a:p>
        </p:txBody>
      </p:sp>
      <p:sp>
        <p:nvSpPr>
          <p:cNvPr id="31" name="B31"/>
          <p:cNvSpPr/>
          <p:nvPr/>
        </p:nvSpPr>
        <p:spPr>
          <a:xfrm>
            <a:off x="4650000" y="1440000"/>
            <a:ext cx="4036800" cy="321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t"/>
          <a:lstStyle/>
          <a:p>
            <a:pPr marL="228600" indent="-228600">
              <a:spcAft>
                <a:spcPts val="250"/>
              </a:spcAft>
              <a:buChar char="•"/>
            </a:pPr>
            <a:r>
              <a:rPr lang="vi-VN" sz="105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ns2="http://schemas.microsoft.com/office/drawing/2014/main" xmlns:p="http://schemas.openxmlformats.org/presentationml/2006/main">
  <p:cSld name="Step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7 - Model Evaluation (Table)</a:t>
            </a:r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r>
              <a:t>Evaluation metrics: MAE, RMSE, sMAPE, RNote:, and paired comparison summaries.</a:t>
            </a:r>
          </a:p>
        </p:txBody>
      </p:sp>
      <p:graphicFrame>
        <p:nvGraphicFramePr>
          <p:cNvPr id="4" name="T1007"/>
          <p:cNvGraphicFramePr>
            <a:graphicFrameLocks noGrp="1"/>
          </p:cNvGraphicFramePr>
          <p:nvPr/>
        </p:nvGraphicFramePr>
        <p:xfrm>
          <a:off x="457200" y="1097280"/>
          <a:ext cx="8229600" cy="2042160"/>
        </p:xfrm>
        <a:graphic>
          <a:graphicData uri="http://schemas.openxmlformats.org/drawingml/2006/table">
            <a:tbl>
              <a:tblPr/>
              <a:tblGrid>
                <a:gridCol w="3000000">
                  <a:extLst>
                    <a:ext uri="{9D8B030D-6E8A-4147-A177-3AD203B41FA5}">
                      <ns2:colId val="20000"/>
                    </a:ext>
                  </a:extLst>
                </a:gridCol>
                <a:gridCol w="5229600">
                  <a:extLst>
                    <a:ext uri="{9D8B030D-6E8A-4147-A177-3AD203B41FA5}">
                      <ns2:colId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 (EN)</a:t>
                      </a:r>
                      <a:endParaRPr lang="en-US" sz="12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Ý nghĩa &amp; Khi nào dùng (VN)</a:t>
                      </a:r>
                      <a:endParaRPr lang="en-US" sz="12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Tỷ lệ đúng tổng thể. Dùng khi các class cân bằng. Không dùng khi imbalanced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ns2:rowId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/ Recall / F1-score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Precision: đúng trong positive dự đoán. Recall: bắt được positive thực. F1: harmonic mean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ns2:rowId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Diện tích dưới ROC curve. AUC=1 hoàn hảo, AUC=0.5 random. Tốt cho imbalanced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ns2:rowId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 Score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Regression: tỷ lệ variance giải thích được. R2=1 hoàn hảo, R2&lt;0 tệ hơn mean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ns2:rowId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 / RMSE / MAE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MSE: mean squared error. RMSE: căn bậc 2 MSE (đơn vị gốc). MAE: ít nhạy outlier hơn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ns2:rowId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with baseline paper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 sánh metrics của nhóm với kết quả trong paper của dự án. Giải thích sự khác biệt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ns2:rowId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 name="Step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8 - Hyper-parameter Tuning</a:t>
            </a:r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r>
              <a:t>Training protocol: five seeds (0-4), maximum 30 epochs, AdamW, early stopping, and fixed chronological splits.</a:t>
            </a:r>
          </a:p>
        </p:txBody>
      </p:sp>
      <p:sp>
        <p:nvSpPr>
          <p:cNvPr id="10" name="B10"/>
          <p:cNvSpPr/>
          <p:nvPr/>
        </p:nvSpPr>
        <p:spPr>
          <a:xfrm>
            <a:off x="457200" y="1050000"/>
            <a:ext cx="3950000" cy="3800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Tree/residual settings are centralized and reused across stations and horizons.</a:t>
            </a:r>
          </a:p>
        </p:txBody>
      </p:sp>
      <p:sp>
        <p:nvSpPr>
          <p:cNvPr id="11" name="B11"/>
          <p:cNvSpPr/>
          <p:nvPr/>
        </p:nvSpPr>
        <p:spPr>
          <a:xfrm>
            <a:off x="457200" y="1440000"/>
            <a:ext cx="3950000" cy="326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t"/>
          <a:lstStyle/>
          <a:p>
            <a:pPr marL="228600" indent="-228600">
              <a:spcAft>
                <a:spcPts val="250"/>
              </a:spcAft>
              <a:buChar char="•"/>
            </a:pPr>
            <a:r>
              <a:rPr lang="vi-VN" sz="105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tuning: alpha is selected on calibration-validation only, not on test data.</a:t>
            </a:r>
          </a:p>
        </p:txBody>
      </p:sp>
      <p:sp>
        <p:nvSpPr>
          <p:cNvPr id="30" name="B30"/>
          <p:cNvSpPr/>
          <p:nvPr/>
        </p:nvSpPr>
        <p:spPr>
          <a:xfrm>
            <a:off x="4650000" y="1050000"/>
            <a:ext cx="4036800" cy="380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gate chooses zero correction in 56.8% of fits, reducing harmful residual over-correction.</a:t>
            </a:r>
          </a:p>
        </p:txBody>
      </p:sp>
      <p:sp>
        <p:nvSpPr>
          <p:cNvPr id="31" name="B31"/>
          <p:cNvSpPr/>
          <p:nvPr/>
        </p:nvSpPr>
        <p:spPr>
          <a:xfrm>
            <a:off x="4650000" y="1440000"/>
            <a:ext cx="4036800" cy="326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t"/>
          <a:lstStyle/>
          <a:p>
            <a:pPr marL="228600" indent="-228600">
              <a:spcAft>
                <a:spcPts val="250"/>
              </a:spcAft>
              <a:buChar char="•"/>
            </a:pPr>
            <a:r>
              <a:rPr lang="vi-VN" sz="105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ns2="http://schemas.microsoft.com/office/drawing/2014/main" xmlns:p="http://schemas.openxmlformats.org/presentationml/2006/main">
  <p:cSld name="Ap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9 - Final Pipeline</a:t>
            </a:r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r>
              <a:t>Pipeline flow:</a:t>
            </a:r>
          </a:p>
          <a:p>
            <a:r>
              <a:t>1. Load station CSV files.</a:t>
            </a:r>
          </a:p>
          <a:p>
            <a:r>
              <a:t>2. Audit and clean PM2.5 records.</a:t>
            </a:r>
          </a:p>
          <a:p>
            <a:r>
              <a:t>3. Build origin-safe features and windows.</a:t>
            </a:r>
          </a:p>
          <a:p>
            <a:r>
              <a:t>4. Train baselines and hybrid models.</a:t>
            </a:r>
          </a:p>
          <a:p>
            <a:r>
              <a:t>5. Evaluate locked-test and common-history sensitivity.</a:t>
            </a:r>
          </a:p>
          <a:p>
            <a:r>
              <a:t>6. Export results, figures, paper, and dashboard artifacts.</a:t>
            </a:r>
          </a:p>
        </p:txBody>
      </p:sp>
      <p:graphicFrame>
        <p:nvGraphicFramePr>
          <p:cNvPr id="4" name="T1107"/>
          <p:cNvGraphicFramePr>
            <a:graphicFrameLocks noGrp="1"/>
          </p:cNvGraphicFramePr>
          <p:nvPr/>
        </p:nvGraphicFramePr>
        <p:xfrm>
          <a:off x="457200" y="1097280"/>
          <a:ext cx="8229600" cy="1882140"/>
        </p:xfrm>
        <a:graphic>
          <a:graphicData uri="http://schemas.openxmlformats.org/drawingml/2006/table">
            <a:tbl>
              <a:tblPr/>
              <a:tblGrid>
                <a:gridCol w="3000000">
                  <a:extLst>
                    <a:ext uri="{9D8B030D-6E8A-4147-A177-3AD203B41FA5}">
                      <ns2:colId val="20000"/>
                    </a:ext>
                  </a:extLst>
                </a:gridCol>
                <a:gridCol w="5229600">
                  <a:extLst>
                    <a:ext uri="{9D8B030D-6E8A-4147-A177-3AD203B41FA5}">
                      <ns2:colId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build (EN)</a:t>
                      </a:r>
                      <a:endParaRPr lang="en-US" sz="12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Hướng dẫn chi tiết (VN)</a:t>
                      </a:r>
                      <a:endParaRPr lang="en-US" sz="12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ns2:rowId val="10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service integration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Lex+Transcribe / Watson IBM / GCP — chatbot hoặc voice Q&amp;A về kết quả dự án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ns2:rowId val="10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architecture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Sơ đồ: data → pipeline (Step 9) → dashboard + AI service + UI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ns2:rowId val="10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features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 data, chạy pipeline, hiển thị prediction, đưa khuyến nghị từ model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ns2:rowId val="101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integration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Plotly/Dash tích hợp vào app — filter, KPI cards, chart liên kết RQ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ns2:rowId val="10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demo required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 end-to-end trong buổi báo cáo — chuẩn bị screenshot dự phòng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ns2:rowId val="10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RBL + AI Audit Log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Justify chọn service và công nghệ (RBL). Log prompt phát triển app; Human Delta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ns2:rowId val="101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>
  <p:cSld name="P4D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r>
              <a:t>AI-Powered Application / Prototype</a:t>
            </a:r>
          </a:p>
        </p:txBody>
      </p:sp>
      <p:sp>
        <p:nvSpPr>
          <p:cNvPr id="3" name="B3"/>
          <p:cNvSpPr/>
          <p:nvPr/>
        </p:nvSpPr>
        <p:spPr>
          <a:xfrm>
            <a:off x="0" y="1200000"/>
            <a:ext cx="9144000" cy="5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Prototype: PM2.5 research dashboard for exploring data quality, generated figures, model metrics, and residual diagnostics.</a:t>
            </a:r>
          </a:p>
        </p:txBody>
      </p:sp>
      <p:sp>
        <p:nvSpPr>
          <p:cNvPr id="4" name="B4"/>
          <p:cNvSpPr/>
          <p:nvPr/>
        </p:nvSpPr>
        <p:spPr>
          <a:xfrm>
            <a:off x="400000" y="1780000"/>
            <a:ext cx="8344000" cy="9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value:</a:t>
            </a:r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Quickly inspect station-level data issues.</a:t>
            </a:r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model performance by horizon.</a:t>
            </a:r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the hybrid helps TimeMixer but not the strongest baseline.</a:t>
            </a:r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presentation and review discussion.</a:t>
            </a:r>
          </a:p>
        </p:txBody>
      </p:sp>
      <p:sp>
        <p:nvSpPr>
          <p:cNvPr id="10" name="B10"/>
          <p:cNvSpPr/>
          <p:nvPr/>
        </p:nvSpPr>
        <p:spPr>
          <a:xfrm>
            <a:off x="322000" y="2900000"/>
            <a:ext cx="1700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uses generated research files instead of inventing demo metrics.</a:t>
            </a:r>
          </a:p>
        </p:txBody>
      </p:sp>
      <p:sp>
        <p:nvSpPr>
          <p:cNvPr id="11" name="B11"/>
          <p:cNvSpPr/>
          <p:nvPr/>
        </p:nvSpPr>
        <p:spPr>
          <a:xfrm>
            <a:off x="2062000" y="2900000"/>
            <a:ext cx="1700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</a:p>
        </p:txBody>
      </p:sp>
      <p:sp>
        <p:nvSpPr>
          <p:cNvPr id="12" name="B12"/>
          <p:cNvSpPr/>
          <p:nvPr/>
        </p:nvSpPr>
        <p:spPr>
          <a:xfrm>
            <a:off x="3802000" y="2900000"/>
            <a:ext cx="1700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</a:p>
        </p:txBody>
      </p:sp>
      <p:sp>
        <p:nvSpPr>
          <p:cNvPr id="13" name="B13"/>
          <p:cNvSpPr/>
          <p:nvPr/>
        </p:nvSpPr>
        <p:spPr>
          <a:xfrm>
            <a:off x="5542000" y="2900000"/>
            <a:ext cx="1700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</a:p>
        </p:txBody>
      </p:sp>
      <p:sp>
        <p:nvSpPr>
          <p:cNvPr id="14" name="B14"/>
          <p:cNvSpPr/>
          <p:nvPr/>
        </p:nvSpPr>
        <p:spPr>
          <a:xfrm>
            <a:off x="7282000" y="2900000"/>
            <a:ext cx="1700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>
  <p:cSld name="Step10Q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Applications and AI-Powered Solutions</a:t>
            </a:r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r>
              <a:t>Possible extensions:</a:t>
            </a:r>
          </a:p>
          <a:p>
            <a:r>
              <a:t>Add live API ingestion from official monitoring services.</a:t>
            </a:r>
          </a:p>
          <a:p>
            <a:r>
              <a:t>Add meteorological covariates such as wind, humidity, temperature, and pressure.</a:t>
            </a:r>
          </a:p>
          <a:p>
            <a:r>
              <a:t>Deploy dashboard to cloud hosting.</a:t>
            </a:r>
          </a:p>
          <a:p>
            <a:r>
              <a:t>Add scheduled retraining and monitoring.</a:t>
            </a:r>
          </a:p>
          <a:p>
            <a:r>
              <a:t>Add explainability for high-pollution events.</a:t>
            </a:r>
          </a:p>
        </p:txBody>
      </p:sp>
      <p:sp>
        <p:nvSpPr>
          <p:cNvPr id="10" name="B10"/>
          <p:cNvSpPr/>
          <p:nvPr/>
        </p:nvSpPr>
        <p:spPr>
          <a:xfrm>
            <a:off x="457200" y="1060000"/>
            <a:ext cx="2700000" cy="46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note: predictions should assist research interpretation, not replace official air-quality alerts.</a:t>
            </a:r>
          </a:p>
        </p:txBody>
      </p:sp>
      <p:sp>
        <p:nvSpPr>
          <p:cNvPr id="11" name="B11"/>
          <p:cNvSpPr/>
          <p:nvPr/>
        </p:nvSpPr>
        <p:spPr>
          <a:xfrm>
            <a:off x="457200" y="1530000"/>
            <a:ext cx="2700000" cy="321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t"/>
          <a:lstStyle/>
          <a:p>
            <a:pPr marL="228600" indent="-228600">
              <a:spcAft>
                <a:spcPts val="320"/>
              </a:spcAft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</a:p>
        </p:txBody>
      </p:sp>
      <p:sp>
        <p:nvSpPr>
          <p:cNvPr id="15" name="B15"/>
          <p:cNvSpPr/>
          <p:nvPr/>
        </p:nvSpPr>
        <p:spPr>
          <a:xfrm>
            <a:off x="3214200" y="1060000"/>
            <a:ext cx="2700000" cy="46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</a:p>
        </p:txBody>
      </p:sp>
      <p:sp>
        <p:nvSpPr>
          <p:cNvPr id="16" name="B16"/>
          <p:cNvSpPr/>
          <p:nvPr/>
        </p:nvSpPr>
        <p:spPr>
          <a:xfrm>
            <a:off x="3214200" y="1530000"/>
            <a:ext cx="2700000" cy="321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t"/>
          <a:lstStyle/>
          <a:p>
            <a:pPr marL="228600" indent="-228600">
              <a:spcAft>
                <a:spcPts val="320"/>
              </a:spcAft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</a:p>
        </p:txBody>
      </p:sp>
      <p:sp>
        <p:nvSpPr>
          <p:cNvPr id="20" name="B20"/>
          <p:cNvSpPr/>
          <p:nvPr/>
        </p:nvSpPr>
        <p:spPr>
          <a:xfrm>
            <a:off x="5971200" y="1060000"/>
            <a:ext cx="2700000" cy="460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</a:p>
        </p:txBody>
      </p:sp>
      <p:sp>
        <p:nvSpPr>
          <p:cNvPr id="21" name="B21"/>
          <p:cNvSpPr/>
          <p:nvPr/>
        </p:nvSpPr>
        <p:spPr>
          <a:xfrm>
            <a:off x="5971200" y="1530000"/>
            <a:ext cx="2700000" cy="321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t"/>
          <a:lstStyle/>
          <a:p>
            <a:pPr marL="228600" indent="-228600">
              <a:spcAft>
                <a:spcPts val="320"/>
              </a:spcAft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</a:p>
        </p:txBody>
      </p:sp>
      <p:sp>
        <p:nvSpPr>
          <p:cNvPr id="50" name="Body"/>
          <p:cNvSpPr/>
          <p:nvPr/>
        </p:nvSpPr>
        <p:spPr>
          <a:xfrm>
            <a:off x="457200" y="4830000"/>
            <a:ext cx="8229600" cy="3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vi-VN" sz="12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>
  <p:cSld name="QATi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10 - Conclusion</a:t>
            </a:r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r>
              <a:t>RQ1 answer: LSTM is the strongest pooled model, while XGBoost is strongest at the shortest horizon.</a:t>
            </a:r>
          </a:p>
        </p:txBody>
      </p:sp>
      <p:sp>
        <p:nvSpPr>
          <p:cNvPr id="4" name="Body"/>
          <p:cNvSpPr/>
          <p:nvPr/>
        </p:nvSpPr>
        <p:spPr>
          <a:xfrm>
            <a:off x="457200" y="105156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vi-VN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 answer: gated hybrid improves TimeMixer, but does not beat the strongest baseline overall.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ns2="http://schemas.microsoft.com/office/drawing/2014/main" xmlns:p="http://schemas.openxmlformats.org/presentationml/2006/main">
  <p:cSld name="Rub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Reflection &amp; Q&amp;A</a:t>
            </a:r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r>
              <a:t>AI contribution: helped organize code, clean data, generate visualizations, prepare report text, and structure slides.</a:t>
            </a:r>
          </a:p>
        </p:txBody>
      </p:sp>
      <p:graphicFrame>
        <p:nvGraphicFramePr>
          <p:cNvPr id="4" name="Rub"/>
          <p:cNvGraphicFramePr>
            <a:graphicFrameLocks noGrp="1"/>
          </p:cNvGraphicFramePr>
          <p:nvPr/>
        </p:nvGraphicFramePr>
        <p:xfrm>
          <a:off x="457200" y="1097280"/>
          <a:ext cx="8229600" cy="3291840"/>
        </p:xfrm>
        <a:graphic>
          <a:graphicData uri="http://schemas.openxmlformats.org/drawingml/2006/table">
            <a:tbl>
              <a:tblPr/>
              <a:tblGrid>
                <a:gridCol w="300000">
                  <a:extLst>
                    <a:ext uri="{9D8B030D-6E8A-4147-A177-3AD203B41FA5}">
                      <ns2:colId val="20000"/>
                    </a:ext>
                  </a:extLst>
                </a:gridCol>
                <a:gridCol w="3200000">
                  <a:extLst>
                    <a:ext uri="{9D8B030D-6E8A-4147-A177-3AD203B41FA5}">
                      <ns2:colId val="20001"/>
                    </a:ext>
                  </a:extLst>
                </a:gridCol>
                <a:gridCol w="1200000">
                  <a:extLst>
                    <a:ext uri="{9D8B030D-6E8A-4147-A177-3AD203B41FA5}">
                      <ns2:colId val="20002"/>
                    </a:ext>
                  </a:extLst>
                </a:gridCol>
                <a:gridCol w="3529600">
                  <a:extLst>
                    <a:ext uri="{9D8B030D-6E8A-4147-A177-3AD203B41FA5}">
                      <ns2:colId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Criteria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Points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Hướng dẫn AI Audit (VN)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ns2:rowId val="10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Report (LaTeX + Slides)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pts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050" i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prompt viết báo cáo, format LaTeX Springer; reflection độ chính xác</a:t>
                      </a:r>
                      <a:endParaRPr lang="vi-VN" sz="10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ns2:rowId val="10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Understanding + Data Prep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pts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050" i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prompt brainstorm, tìm data, câu hỏi nghiên cứu, data collection</a:t>
                      </a:r>
                      <a:endParaRPr lang="vi-VN" sz="10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ns2:rowId val="10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Analysis with Python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pts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050" i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prompt code Python, feature engineering, justify lựa chọn</a:t>
                      </a:r>
                      <a:endParaRPr lang="vi-VN" sz="10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ns2:rowId val="10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Visualization in Advanced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pts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050" i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prompt tạo chart, dashboard; evidence-based insights</a:t>
                      </a:r>
                      <a:endParaRPr lang="vi-VN" sz="10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ns2:rowId val="10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Model for Prediction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pts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050" i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prompt huấn luyện, so sánh &gt;= 5 mô hình với baseline paper</a:t>
                      </a:r>
                      <a:endParaRPr lang="vi-VN" sz="10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ns2:rowId val="10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Integrating AI Services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pts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050" i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prompt tích hợp API/AI services; justify lựa chọn</a:t>
                      </a:r>
                      <a:endParaRPr lang="vi-VN" sz="10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ns2:rowId val="10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 AI-Powered Application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pts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050" i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prompt phát triển app; Human Delta; architecture diagram</a:t>
                      </a:r>
                      <a:endParaRPr lang="vi-VN" sz="10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ns2:rowId val="102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Q&amp;A + AI Reflection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pts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050" i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Audit Log đầy đủ; Human Delta; Hallucination &gt;=3; Checklist</a:t>
                      </a:r>
                      <a:endParaRPr lang="vi-VN" sz="10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ns2:rowId val="102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fake-beamer">
  <a:themeElements>
    <a:clrScheme name="BeamerBlu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331B4"/>
      </a:accent1>
      <a:accent2>
        <a:srgbClr val="26268C"/>
      </a:accent2>
      <a:accent3>
        <a:srgbClr val="1C1B67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amer" id="{99E1F896-D2CB-2744-898B-231E70ADB72B}" vid="{6D0C7D28-E11F-0F48-8979-25ECC394847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fake-beamer</Template>
  <TotalTime>1</TotalTime>
  <Words>2741</Words>
  <Application>Microsoft Office PowerPoint</Application>
  <PresentationFormat>On-screen Show (16:9)</PresentationFormat>
  <Paragraphs>345</Paragraphs>
  <Slides>22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CMU Sans Serif Medium</vt:lpstr>
      <vt:lpstr>fake-beamer</vt:lpstr>
      <vt:lpstr>PROJECT TITTLE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1: Giới thiệu về Máy tính</dc:title>
  <dc:subject>PptxGenJS Presentation</dc:subject>
  <dc:creator>Nhat-Tung Le</dc:creator>
  <cp:lastModifiedBy>Admin</cp:lastModifiedBy>
  <cp:revision>37</cp:revision>
  <dcterms:created xsi:type="dcterms:W3CDTF">2026-05-01T11:03:29Z</dcterms:created>
  <dcterms:modified xsi:type="dcterms:W3CDTF">2026-06-01T06:35:42Z</dcterms:modified>
</cp:coreProperties>
</file>