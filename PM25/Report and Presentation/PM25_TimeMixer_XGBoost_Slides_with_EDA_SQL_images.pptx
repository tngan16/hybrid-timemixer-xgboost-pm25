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 autoCompressPictures="0">
  <p:sldMasterIdLst>
    <p:sldMasterId id="2147483650" r:id="rId1"/>
  </p:sldMasterIdLst>
  <p:notesMasterIdLst>
    <p:notesMasterId r:id="rId24"/>
  </p:notesMasterIdLst>
  <p:sldIdLst>
    <p:sldId id="295" r:id="rId2"/>
    <p:sldId id="257" r:id="rId3"/>
    <p:sldId id="258" r:id="rId4"/>
    <p:sldId id="259" r:id="rId5"/>
    <p:sldId id="282" r:id="rId6"/>
    <p:sldId id="280" r:id="rId7"/>
    <p:sldId id="260" r:id="rId8"/>
    <p:sldId id="294" r:id="rId9"/>
    <p:sldId id="286" r:id="rId10"/>
    <p:sldId id="261" r:id="rId11"/>
    <p:sldId id="262" r:id="rId12"/>
    <p:sldId id="287" r:id="rId13"/>
    <p:sldId id="288" r:id="rId14"/>
    <p:sldId id="289" r:id="rId15"/>
    <p:sldId id="290" r:id="rId16"/>
    <p:sldId id="291" r:id="rId17"/>
    <p:sldId id="292" r:id="rId18"/>
    <p:sldId id="296" r:id="rId19"/>
    <p:sldId id="297" r:id="rId20"/>
    <p:sldId id="298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Nhat Tung" userId="77b0905b33e1f80d" providerId="LiveId" clId="{A4964FA4-2953-4C64-887E-A60447789925}"/>
    <pc:docChg chg="undo custSel delSld modSld">
      <pc:chgData name="Le Nhat Tung" userId="77b0905b33e1f80d" providerId="LiveId" clId="{A4964FA4-2953-4C64-887E-A60447789925}" dt="2026-06-01T06:13:37.095" v="77" actId="20577"/>
      <pc:docMkLst>
        <pc:docMk/>
      </pc:docMkLst>
      <pc:sldChg chg="modSp mod">
        <pc:chgData name="Le Nhat Tung" userId="77b0905b33e1f80d" providerId="LiveId" clId="{A4964FA4-2953-4C64-887E-A60447789925}" dt="2026-06-01T06:12:00.917" v="7" actId="20577"/>
        <pc:sldMkLst>
          <pc:docMk/>
          <pc:sldMk cId="0" sldId="257"/>
        </pc:sldMkLst>
        <pc:spChg chg="mod">
          <ac:chgData name="Le Nhat Tung" userId="77b0905b33e1f80d" providerId="LiveId" clId="{A4964FA4-2953-4C64-887E-A60447789925}" dt="2026-06-01T06:12:00.917" v="7" actId="20577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3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4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93"/>
        </pc:sldMkLst>
      </pc:sldChg>
      <pc:sldChg chg="addSp modSp mod">
        <pc:chgData name="Le Nhat Tung" userId="77b0905b33e1f80d" providerId="LiveId" clId="{A4964FA4-2953-4C64-887E-A60447789925}" dt="2026-06-01T06:12:59.854" v="40" actId="1076"/>
        <pc:sldMkLst>
          <pc:docMk/>
          <pc:sldMk cId="0" sldId="295"/>
        </pc:sldMkLst>
        <pc:spChg chg="mod">
          <ac:chgData name="Le Nhat Tung" userId="77b0905b33e1f80d" providerId="LiveId" clId="{A4964FA4-2953-4C64-887E-A60447789925}" dt="2026-06-01T06:12:13.552" v="27" actId="20577"/>
          <ac:spMkLst>
            <pc:docMk/>
            <pc:sldMk cId="0" sldId="295"/>
            <ac:spMk id="8" creationId="{00000000-0000-0000-0000-000000000000}"/>
          </ac:spMkLst>
        </pc:spChg>
        <pc:spChg chg="mod">
          <ac:chgData name="Le Nhat Tung" userId="77b0905b33e1f80d" providerId="LiveId" clId="{A4964FA4-2953-4C64-887E-A60447789925}" dt="2026-06-01T06:12:33.304" v="36" actId="20577"/>
          <ac:spMkLst>
            <pc:docMk/>
            <pc:sldMk cId="0" sldId="295"/>
            <ac:spMk id="10" creationId="{00000000-0000-0000-0000-000000000000}"/>
          </ac:spMkLst>
        </pc:spChg>
        <pc:picChg chg="add mod">
          <ac:chgData name="Le Nhat Tung" userId="77b0905b33e1f80d" providerId="LiveId" clId="{A4964FA4-2953-4C64-887E-A60447789925}" dt="2026-06-01T06:12:59.854" v="40" actId="1076"/>
          <ac:picMkLst>
            <pc:docMk/>
            <pc:sldMk cId="0" sldId="295"/>
            <ac:picMk id="2" creationId="{497A396E-23A9-7D61-08AA-DEFD09D56942}"/>
          </ac:picMkLst>
        </pc:picChg>
      </pc:sldChg>
      <pc:sldChg chg="modSp mod">
        <pc:chgData name="Le Nhat Tung" userId="77b0905b33e1f80d" providerId="LiveId" clId="{A4964FA4-2953-4C64-887E-A60447789925}" dt="2026-06-01T06:13:37.095" v="77" actId="20577"/>
        <pc:sldMkLst>
          <pc:docMk/>
          <pc:sldMk cId="0" sldId="300"/>
        </pc:sldMkLst>
        <pc:graphicFrameChg chg="modGraphic">
          <ac:chgData name="Le Nhat Tung" userId="77b0905b33e1f80d" providerId="LiveId" clId="{A4964FA4-2953-4C64-887E-A60447789925}" dt="2026-06-01T06:13:37.095" v="77" actId="20577"/>
          <ac:graphicFrameMkLst>
            <pc:docMk/>
            <pc:sldMk cId="0" sldId="300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BBB-3EB4-2080-5DC0-6DF31E7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9BEB-A4F2-980F-E24C-B08AB51F2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0B6B-CA79-DA23-7D91-EFD834A35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2B9F-AD27-E43F-4A95-6285EA8BD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142999" y="2667001"/>
            <a:ext cx="6858000" cy="4320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909" y="2156870"/>
            <a:ext cx="6022181" cy="66632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0908" y="3012689"/>
            <a:ext cx="6022181" cy="871725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60908" y="4084776"/>
            <a:ext cx="6022181" cy="60543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0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94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29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514350" indent="-171450" algn="just" defTabSz="685800" rtl="0" eaLnBrk="1" latinLnBrk="0" hangingPunct="1">
        <a:lnSpc>
          <a:spcPct val="110000"/>
        </a:lnSpc>
        <a:spcBef>
          <a:spcPts val="4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TimeMixer-XGBoost PM2.5 Forecasting App</a:t>
            </a:r>
          </a:p>
        </p:txBody>
      </p:sp>
      <p:sp>
        <p:nvSpPr>
          <p:cNvPr id="10" name="Sub"/>
          <p:cNvSpPr>
            <a:spLocks noGrp="1"/>
          </p:cNvSpPr>
          <p:nvPr>
            <p:ph type="body" sz="quarter" idx="14"/>
          </p:nvPr>
        </p:nvSpPr>
        <p:spPr>
          <a:xfrm>
            <a:off x="483009" y="1850000"/>
            <a:ext cx="8118067" cy="1550000"/>
          </a:xfrm>
        </p:spPr>
        <p:txBody>
          <a:bodyPr>
            <a:noAutofit/>
          </a:bodyPr>
          <a:lstStyle/>
          <a:p>
            <a:r>
              <a:rPr lang="en-US" sz="2800" dirty="0" err="1"/>
              <a:t>DAP391m Project</a:t>
            </a:r>
          </a:p>
          <a:p>
            <a:r>
              <a:rPr lang="en-US" sz="2800" dirty="0" err="1"/>
              <a:t>Artificial Intelligence &amp; Data Science Project</a:t>
            </a:r>
          </a:p>
          <a:p>
            <a:r>
              <a:rPr lang="en-US" sz="2800" dirty="0" err="1"/>
              <a:t>FPT University | Ho Chi Minh City</a:t>
            </a:r>
          </a:p>
        </p:txBody>
      </p:sp>
      <p:sp>
        <p:nvSpPr>
          <p:cNvPr id="12" name="Info"/>
          <p:cNvSpPr>
            <a:spLocks noGrp="1"/>
          </p:cNvSpPr>
          <p:nvPr>
            <p:ph type="body" sz="quarter" idx="13"/>
          </p:nvPr>
        </p:nvSpPr>
        <p:spPr>
          <a:xfrm>
            <a:off x="1200000" y="4100000"/>
            <a:ext cx="6700000" cy="600000"/>
          </a:xfrm>
        </p:spPr>
        <p:txBody>
          <a:bodyPr/>
          <a:lstStyle/>
          <a:p>
            <a:r>
              <a:rPr lang="en-US" sz="1300" dirty="0"/>
              <a:t>Students: Dong Bao Han - Tran Loi Kieu Nhi - Pham Hoang Tu Ngan</a:t>
            </a:r>
          </a:p>
          <a:p>
            <a:r>
              <a:rPr lang="en-US" sz="1300" dirty="0"/>
              <a:t>Supervisor/Mentor: Le Vo Minh Thu</a:t>
            </a:r>
          </a:p>
        </p:txBody>
      </p:sp>
      <p:pic>
        <p:nvPicPr>
          <p:cNvPr id="2" name="Picture 1" descr="Tập tin:Logo Trường Đại học FPT.svg – Wikipedia tiếng Việt">
            <a:extLst>
              <a:ext uri="{FF2B5EF4-FFF2-40B4-BE49-F238E27FC236}">
                <ns2:creationId id="{497A396E-23A9-7D61-08AA-DEFD09D5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0" y="117275"/>
            <a:ext cx="961960" cy="375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- Presentation Structure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PART 1 - Problem &amp; Data Understanding</a:t>
            </a:r>
          </a:p>
          <a:p>
            <a:r>
              <a:t>Slide 3: Problem Understanding</a:t>
            </a:r>
          </a:p>
          <a:p>
            <a:r>
              <a:t>Slide 4: Research Questions</a:t>
            </a:r>
          </a:p>
          <a:p>
            <a:r>
              <a:t>Slide 5: Data Understanding</a:t>
            </a:r>
          </a:p>
          <a:p>
            <a:r>
              <a:t>Slide 6-8: EDA and SQL-linked analysis</a:t>
            </a:r>
          </a:p>
          <a:p>
            <a:r>
              <a:t/>
            </a:r>
          </a:p>
          <a:p>
            <a:r>
              <a:t>PART 2 - Feature Engineering &amp; Visualization</a:t>
            </a:r>
          </a:p>
          <a:p>
            <a:r>
              <a:t>Slide 9: Feature Engineering</a:t>
            </a:r>
          </a:p>
          <a:p>
            <a:r>
              <a:t>Slide 10: Advanced Data Visualization</a:t>
            </a:r>
          </a:p>
          <a:p>
            <a:r>
              <a:t>Slide 11: Interactive Dashboard</a:t>
            </a:r>
          </a:p>
          <a:p>
            <a:r>
              <a:t/>
            </a:r>
          </a:p>
          <a:p>
            <a:r>
              <a:t>PART 3 - Modelling, Evaluation &amp; Pipeline</a:t>
            </a:r>
          </a:p>
          <a:p>
            <a:r>
              <a:t>Slide 12: Dataset Partition</a:t>
            </a:r>
          </a:p>
          <a:p>
            <a:r>
              <a:t>Slide 13: Data Modelling</a:t>
            </a:r>
          </a:p>
          <a:p>
            <a:r>
              <a:t>Slide 14: Model Evaluation</a:t>
            </a:r>
          </a:p>
          <a:p>
            <a:r>
              <a:t>Slide 15: Hyper-parameter Tuning</a:t>
            </a:r>
          </a:p>
          <a:p>
            <a:r>
              <a:t>Slide 16: Final Pipeline</a:t>
            </a:r>
          </a:p>
          <a:p>
            <a:r>
              <a:t/>
            </a:r>
          </a:p>
          <a:p>
            <a:r>
              <a:t>PART 4 - AI Application &amp; Reflection</a:t>
            </a:r>
          </a:p>
          <a:p>
            <a:r>
              <a:t>Slide 17-18: Prototype and AI-powered solution</a:t>
            </a:r>
          </a:p>
          <a:p>
            <a:r>
              <a:t>Slide 19-20: Conclusion, Reflection, and Q&amp;A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P1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Step 1 - Problem Understanding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hourly PM2.5 concentration is noisy, station-dependent, and difficult to forecast across multiple future horizons.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build and evaluate a PM2.5 forecasting system for 1, 6, 12, 24, and 48 hours ahead.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forecasting PM2.5 supports air-quality analysis and early interpretation of pollution changes.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 question: can a gated TimeMixer-XGBoost residual layer safely improve TimeMixer forecasts across several stationsNote:</a:t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(RQ1, RQ2, RQ3)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[RQ1] Which model forecasts hourly PM2.5 most accurately across horizons and stationsNote:</a:t>
            </a:r>
          </a:p>
          <a:p>
            <a:r>
              <a:t>Target: PM2.5 concentration. Task type: time-series regression.</a:t>
            </a:r>
          </a:p>
          <a:p>
            <a:r>
              <a:t/>
            </a:r>
          </a:p>
          <a:p>
            <a:r>
              <a:t>[RQ2] Does the gated TimeMixer-XGBoost residual layer improve the TimeMixer base modelNote:</a:t>
            </a:r>
          </a:p>
          <a:p>
            <a:r>
              <a:t>Comparison: TimeMixer vs static hybrid vs gated hybrid.</a:t>
            </a:r>
          </a:p>
          <a:p>
            <a:r>
              <a:t/>
            </a:r>
          </a:p>
          <a:p>
            <a:r>
              <a:t>[RQ3] Are conclusions stable when all stations use the same 2021-2025 historyNote:</a:t>
            </a:r>
          </a:p>
          <a:p>
            <a:r>
              <a:t>Purpose: address reviewer concern about unequal historical coverage.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>
  <p:cSld name="Ste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Data Understanding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Dataset: UK-Air hourly PM2.5 time-series records from five monitoring stations.</a:t>
            </a:r>
          </a:p>
        </p:txBody>
      </p:sp>
      <p:graphicFrame>
        <p:nvGraphicFramePr>
          <p:cNvPr id="4" name="T1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thực hiện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định các biến đầu vào (features): loại dữ liệu số, categorical, text, thời gian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định biến mục tiêu (target/label): là gìPhân phối ra saoCó mất cân bằng khôngNote: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or RegressionNote: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Classification: target rời rạc (0/1, nhãn). Regression: target liên tục (giá, doanh thu)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context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domain: logistic, fintech, fashion... Tại sao bài toán này quan trọngNote: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success metrics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nghĩa thành công: Accuracy/F1 (classification) hay RMSE/R2 (regression)Note: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RBL: Justify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Trích dẫn paper để justify bài toán. Log prompt brainstorm problem statement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>
  <p:cSld name="Ste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EDA (Univariate)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Univariate checks focus on one variable at a time: PM2.5 value, timestamp, missingness, and coverage.</a:t>
            </a:r>
          </a:p>
        </p:txBody>
      </p:sp>
      <p:pic xmlns:r="http://schemas.openxmlformats.org/officeDocument/2006/relationships">
        <p:nvPicPr>
          <p:cNvPr id="4" name="Picture 3" descr="01_data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589788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914400"/>
            <a:ext cx="224028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Key EDA findings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PM2.5 is right-skewed with rare high-pollution episodes.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Daily PM2.5 shows short-term spikes and long-term variation.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Mean PM2.5 changes by hour, showing a daily pattern.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Autocorrelation confirms past PM2.5 is useful for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>
  <p:cSld name="Ste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EDA (Bivariate &amp; Multivariate)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Bivariate analysis links PM2.5 to time features such as hour, day, month, station, and horizon.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23317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Key EDA findings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Coverage varies by year; 2020 has the lowest coverage.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Most missing gaps are very short.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A few long gaps still appear in the data.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Long gaps should not be linearly interpolated.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Missing/gap indicators are useful features.</a:t>
            </a:r>
          </a:p>
        </p:txBody>
      </p:sp>
      <p:pic xmlns:r="http://schemas.openxmlformats.org/officeDocument/2006/relationships">
        <p:nvPicPr>
          <p:cNvPr id="5" name="Picture 4" descr="02_dat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868680"/>
            <a:ext cx="57150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P2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SQL Queries Linked to Research Questions</a:t>
            </a:r>
          </a:p>
        </p:txBody>
      </p:sp>
      <p:pic xmlns:r="http://schemas.openxmlformats.org/officeDocument/2006/relationships">
        <p:nvPicPr>
          <p:cNvPr id="3" name="Picture 2" descr="sql_queries_r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818387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>
  <p:cSld name="Ste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Feature Engineering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Feature rule: every predictor must be known at forecast origin to avoid data leakage.</a:t>
            </a:r>
          </a:p>
        </p:txBody>
      </p:sp>
      <p:graphicFrame>
        <p:nvGraphicFramePr>
          <p:cNvPr id="4" name="T607"/>
          <p:cNvGraphicFramePr>
            <a:graphicFrameLocks noGrp="1"/>
          </p:cNvGraphicFramePr>
          <p:nvPr/>
        </p:nvGraphicFramePr>
        <p:xfrm>
          <a:off x="457200" y="1097280"/>
          <a:ext cx="8229600" cy="220218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 / Missing / Outlier Handling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transform (skew), fillna/dropna (missing), cap/remove (outlier) — ghi lý do từng bước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Enrichment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biến mới từ business domain: ratio, difference, aggregation theo nhóm, time lag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Transformation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features, binning (pd.cut), log/sqrt transform cho phân phối lệch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filter (|r|&gt;0.9 drop), VIF (multicollinearity), SelectKBest, RFE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Encoding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LabelEncoder (ordinal), OneHotEncoder (nominal), TargetEncoder (high cardinality)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Normalization: MinMaxScaler [0,1]. Standardization: StandardScaler (z-score). Khi nào dùngNote: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>
  <p:cSld name="VizAd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Visualization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Main figures generated by code:</a:t>
            </a:r>
          </a:p>
          <a:p>
            <a:r>
              <a:t>Data overview and quality figures.</a:t>
            </a:r>
          </a:p>
          <a:p>
            <a:r>
              <a:t>Multi-station model-effectiveness figure.</a:t>
            </a:r>
          </a:p>
          <a:p>
            <a:r>
              <a:t>Model-metric comparison by horizon.</a:t>
            </a:r>
          </a:p>
          <a:p>
            <a:r>
              <a:t>Residual ablation and seed-variability plots.</a:t>
            </a:r>
          </a:p>
          <a:p>
            <a:r>
              <a:t>Bootstrap uncertainty and sensitivity evidence.</a:t>
            </a:r>
          </a:p>
        </p:txBody>
      </p:sp>
      <p:pic xmlns:r="http://schemas.openxmlformats.org/officeDocument/2006/relationships">
        <p:nvPicPr>
          <p:cNvPr id="4" name="Picture 3" descr="04_model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3977639" cy="2743200"/>
          </a:xfrm>
          <a:prstGeom prst="rect">
            <a:avLst/>
          </a:prstGeom>
        </p:spPr>
      </p:pic>
      <p:pic xmlns:r="http://schemas.openxmlformats.org/officeDocument/2006/relationships">
        <p:nvPicPr>
          <p:cNvPr id="5" name="Picture 4" descr="06_residual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68680"/>
            <a:ext cx="3977639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767328"/>
            <a:ext cx="7863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Insight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Model metrics show LSTM/DLinear as strongest pooled baselines; residual ablation shows gating reduces over-correction.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(Research App)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The project includes a Streamlit dashboard organized like the sample app structure.</a:t>
            </a:r>
          </a:p>
        </p:txBody>
      </p:sp>
      <p:pic xmlns:r="http://schemas.openxmlformats.org/officeDocument/2006/relationships">
        <p:nvPicPr>
          <p:cNvPr id="4" name="Picture 3" descr="dashboard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818387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P3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Step 5 - Dataset Partition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partitioning prevents future leakage.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period: model fitting before the validation/calibration/test eras.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period: early stopping and neural model selection.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period: residual gate and alpha selection.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test period: final evaluation from 2024 onward.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design: common 2021-2025 history is used for all stations to test whether unequal station history changes the conclusion.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tep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6 - Data Modelling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Models compared: persistence, seasonal-naive, XGBoost, LSTM, DLinear, TimeMixer, static hybrid, and gated hybrid.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model: TimeMixer generates base forecasts; XGBoost learns residual errors; the gate controls whether residual correction is used.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440000"/>
            <a:ext cx="395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safeguards: median de-biasing, pseudo-Huber robust loss, bounded correction, calibration-selected alpha, and rolling bias calibration.</a:t>
            </a:r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satisfies the requirement to compare at least five modelling approaches.</a:t>
            </a:r>
          </a:p>
        </p:txBody>
      </p:sp>
      <p:sp>
        <p:nvSpPr>
          <p:cNvPr id="31" name="B31"/>
          <p:cNvSpPr/>
          <p:nvPr/>
        </p:nvSpPr>
        <p:spPr>
          <a:xfrm>
            <a:off x="4650000" y="1440000"/>
            <a:ext cx="40368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>
  <p:cSld name="Ste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7 - Model Evaluation (Table)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Evaluation metrics: MAE, RMSE, sMAPE, RNote:, and paired comparison summaries.</a:t>
            </a:r>
          </a:p>
        </p:txBody>
      </p:sp>
      <p:graphicFrame>
        <p:nvGraphicFramePr>
          <p:cNvPr id="4" name="T1007"/>
          <p:cNvGraphicFramePr>
            <a:graphicFrameLocks noGrp="1"/>
          </p:cNvGraphicFramePr>
          <p:nvPr/>
        </p:nvGraphicFramePr>
        <p:xfrm>
          <a:off x="457200" y="1097280"/>
          <a:ext cx="8229600" cy="20421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 &amp; Khi nào dùng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đúng tổng thể. Dùng khi các class cân bằng. Không dùng khi imbalanced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/ F1-score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Precision: đúng trong positive dự đoán. Recall: bắt được positive thực. F1: harmonic mean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Diện tích dưới ROC curve. AUC=1 hoàn hảo, AUC=0.5 random. Tốt cho imbalanced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Regression: tỷ lệ variance giải thích được. R2=1 hoàn hảo, R2&lt;0 tệ hơn mean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RMSE / MAE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MSE: mean squared error. RMSE: căn bậc 2 MSE (đơn vị gốc). MAE: ít nhạy outlier hơn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with baseline paper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metrics của nhóm với kết quả trong paper của dự án. Giải thích sự khác biệt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tep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8 - Hyper-parameter Tuning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Training protocol: five seeds (0-4), maximum 30 epochs, AdamW, early stopping, and fixed chronological splits.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Tree/residual settings are centralized and reused across stations and horizons.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440000"/>
            <a:ext cx="39500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tuning: alpha is selected on calibration-validation only, not on test data.</a:t>
            </a:r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gate chooses zero correction in 56.8% of fits, reducing harmful residual over-correction.</a:t>
            </a:r>
          </a:p>
        </p:txBody>
      </p:sp>
      <p:sp>
        <p:nvSpPr>
          <p:cNvPr id="31" name="B31"/>
          <p:cNvSpPr/>
          <p:nvPr/>
        </p:nvSpPr>
        <p:spPr>
          <a:xfrm>
            <a:off x="4650000" y="1440000"/>
            <a:ext cx="40368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p="http://schemas.openxmlformats.org/presentationml/2006/main">
  <p:cSld name="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9 - Final Pipeline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Pipeline flow:</a:t>
            </a:r>
          </a:p>
          <a:p>
            <a:r>
              <a:t>1. Load station CSV files.</a:t>
            </a:r>
          </a:p>
          <a:p>
            <a:r>
              <a:t>2. Audit and clean PM2.5 records.</a:t>
            </a:r>
          </a:p>
          <a:p>
            <a:r>
              <a:t>3. Build origin-safe features and windows.</a:t>
            </a:r>
          </a:p>
          <a:p>
            <a:r>
              <a:t>4. Train baselines and hybrid models.</a:t>
            </a:r>
          </a:p>
          <a:p>
            <a:r>
              <a:t>5. Evaluate locked-test and common-history sensitivity.</a:t>
            </a:r>
          </a:p>
          <a:p>
            <a:r>
              <a:t>6. Export results, figures, paper, and dashboard artifacts.</a:t>
            </a:r>
          </a:p>
        </p:txBody>
      </p:sp>
      <p:graphicFrame>
        <p:nvGraphicFramePr>
          <p:cNvPr id="4" name="T11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build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Lex+Transcribe / Watson IBM / GCP — chatbot hoặc voice Q&amp;A về kết quả dự án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architecture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đồ: data → pipeline (Step 9) → dashboard + AI service + UI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data, chạy pipeline, hiển thị prediction, đưa khuyến nghị từ model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Plotly/Dash tích hợp vào app — filter, KPI cards, chart liên kết RQ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required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end-to-end trong buổi báo cáo — chuẩn bị screenshot dự phòng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chọn service và công nghệ (RBL). Log prompt phát triển app; Human Delta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P4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AI-Powered Application / Prototype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PM2.5 research dashboard for exploring data quality, generated figures, model metrics, and residual diagnostics.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value: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inspect station-level data issues.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by horizon.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hybrid helps TimeMixer but not the strongest baseline.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presentation and review discussion.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uses generated research files instead of inventing demo metrics.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Step10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Applications and AI-Powered Solutions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Possible extensions:</a:t>
            </a:r>
          </a:p>
          <a:p>
            <a:r>
              <a:t>Add live API ingestion from official monitoring services.</a:t>
            </a:r>
          </a:p>
          <a:p>
            <a:r>
              <a:t>Add meteorological covariates such as wind, humidity, temperature, and pressure.</a:t>
            </a:r>
          </a:p>
          <a:p>
            <a:r>
              <a:t>Deploy dashboard to cloud hosting.</a:t>
            </a:r>
          </a:p>
          <a:p>
            <a:r>
              <a:t>Add scheduled retraining and monitoring.</a:t>
            </a:r>
          </a:p>
          <a:p>
            <a:r>
              <a:t>Add explainability for high-pollution events.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60000"/>
            <a:ext cx="2700000" cy="4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note: predictions should assist research interpretation, not replace official air-quality alerts.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5" name="B15"/>
          <p:cNvSpPr/>
          <p:nvPr/>
        </p:nvSpPr>
        <p:spPr>
          <a:xfrm>
            <a:off x="3214200" y="1060000"/>
            <a:ext cx="2700000" cy="4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6" name="B16"/>
          <p:cNvSpPr/>
          <p:nvPr/>
        </p:nvSpPr>
        <p:spPr>
          <a:xfrm>
            <a:off x="3214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20" name="B20"/>
          <p:cNvSpPr/>
          <p:nvPr/>
        </p:nvSpPr>
        <p:spPr>
          <a:xfrm>
            <a:off x="5971200" y="1060000"/>
            <a:ext cx="2700000" cy="46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21" name="B21"/>
          <p:cNvSpPr/>
          <p:nvPr/>
        </p:nvSpPr>
        <p:spPr>
          <a:xfrm>
            <a:off x="5971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50" name="Body"/>
          <p:cNvSpPr/>
          <p:nvPr/>
        </p:nvSpPr>
        <p:spPr>
          <a:xfrm>
            <a:off x="457200" y="483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QA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10 - Conclusion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RQ1 answer: LSTM is the strongest pooled model, while XGBoost is strongest at the shortest horizon.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answer: gated hybrid improves TimeMixer, but does not beat the strongest baseline overall.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p="http://schemas.openxmlformats.org/presentationml/2006/main">
  <p:cSld name="Rub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Reflection &amp; Q&amp;A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AI contribution: helped organize code, clean data, generate visualizations, prepare report text, and structure slides.</a:t>
            </a:r>
          </a:p>
        </p:txBody>
      </p:sp>
      <p:graphicFrame>
        <p:nvGraphicFramePr>
          <p:cNvPr id="4" name="Rub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300000">
                  <a:extLst>
                    <a:ext uri="{9D8B030D-6E8A-4147-A177-3AD203B41FA5}">
                      <ns2:colId val="20000"/>
                    </a:ext>
                  </a:extLst>
                </a:gridCol>
                <a:gridCol w="3200000">
                  <a:extLst>
                    <a:ext uri="{9D8B030D-6E8A-4147-A177-3AD203B41FA5}">
                      <ns2:colId val="20001"/>
                    </a:ext>
                  </a:extLst>
                </a:gridCol>
                <a:gridCol w="1200000">
                  <a:extLst>
                    <a:ext uri="{9D8B030D-6E8A-4147-A177-3AD203B41FA5}">
                      <ns2:colId val="20002"/>
                    </a:ext>
                  </a:extLst>
                </a:gridCol>
                <a:gridCol w="3529600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Criteria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Points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AI Audit (VN)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(LaTeX + Slides)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viết báo cáo, format LaTeX Springer; reflection độ chính xác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 + Data Prep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brainstorm, tìm data, câu hỏi nghiên cứu, data collection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 with Python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code Python, feature engineering, justify lựa chọn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 in Advanced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tạo chart, dashboard; evidence-based insights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Model for Prediction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huấn luyện, so sánh &gt;= 5 mô hình với baseline paper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Integrating AI Services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tích hợp API/AI services; justify lựa chọn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AI-Powered Application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phát triển app; Human Delta; architecture diagram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+ AI Reflection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đầy đủ; Human Delta; Hallucination &gt;=3; Checklist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99E1F896-D2CB-2744-898B-231E70ADB72B}" vid="{6D0C7D28-E11F-0F48-8979-25ECC39484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1</TotalTime>
  <Words>2741</Words>
  <Application>Microsoft Office PowerPoint</Application>
  <PresentationFormat>On-screen Show (16:9)</PresentationFormat>
  <Paragraphs>345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CMU Sans Serif Medium</vt:lpstr>
      <vt:lpstr>fake-beamer</vt:lpstr>
      <vt:lpstr>PROJECT TITTLE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1: Giới thiệu về Máy tính</dc:title>
  <dc:subject>PptxGenJS Presentation</dc:subject>
  <dc:creator>Nhat-Tung Le</dc:creator>
  <cp:lastModifiedBy>Admin</cp:lastModifiedBy>
  <cp:revision>37</cp:revision>
  <dcterms:created xsi:type="dcterms:W3CDTF">2026-05-01T11:03:29Z</dcterms:created>
  <dcterms:modified xsi:type="dcterms:W3CDTF">2026-06-01T06:35:42Z</dcterms:modified>
</cp:coreProperties>
</file>